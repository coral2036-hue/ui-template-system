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3" r:id="rId9"/>
    <p:sldId id="264" r:id="rId10"/>
    <p:sldId id="269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54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8012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2281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9046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94560"/>
            <a:ext cx="5486400" cy="5486400"/>
          </a:xfrm>
          <a:prstGeom prst="ellipse">
            <a:avLst/>
          </a:prstGeom>
          <a:solidFill>
            <a:srgbClr val="FFFFFF">
              <a:alpha val="6000"/>
            </a:srgbClr>
          </a:solidFill>
          <a:ln w="25400">
            <a:solidFill>
              <a:srgbClr val="4466CC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011680" y="4389120"/>
            <a:ext cx="4572000" cy="4572000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3355BB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98464" y="1463040"/>
            <a:ext cx="182880" cy="54864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173736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77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 PRESENTATION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0" y="2194560"/>
            <a:ext cx="1219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하나에 </a:t>
            </a:r>
            <a:r>
              <a:rPr lang="en-US" sz="52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36시간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0" y="342900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AA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금융 AI가 정확한 답을 하기까지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0" y="4069080"/>
            <a:ext cx="3044952" cy="18288"/>
          </a:xfrm>
          <a:prstGeom prst="rect">
            <a:avLst/>
          </a:prstGeom>
          <a:solidFill>
            <a:srgbClr val="2A3A70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4206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6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김광현  |  브랜치Q 담당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905756" y="15544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E4EAFF"/>
          </a:solidFill>
          <a:ln/>
        </p:spPr>
      </p:sp>
      <p:sp>
        <p:nvSpPr>
          <p:cNvPr id="4" name="Text 2"/>
          <p:cNvSpPr/>
          <p:nvPr/>
        </p:nvSpPr>
        <p:spPr>
          <a:xfrm>
            <a:off x="4905756" y="155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0" y="1005840"/>
            <a:ext cx="9418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6개월 전,</a:t>
            </a:r>
            <a:endParaRPr lang="en-US" sz="3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오래 붙잡고 있었던 질문 하나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029200" y="2560320"/>
            <a:ext cx="2130552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2834640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70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제가 약 6개월 전, 브랜치Q를 학습시키면서</a:t>
            </a:r>
            <a:endParaRPr lang="en-US" sz="1500" dirty="0"/>
          </a:p>
          <a:p>
            <a:pPr marL="0" indent="0" algn="ctr">
              <a:lnSpc>
                <a:spcPct val="170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정말 오래 붙잡고 있었던 질문 하나를 말씀드리려고 합니다.</a:t>
            </a:r>
            <a:endParaRPr lang="en-US" sz="1500" dirty="0"/>
          </a:p>
          <a:p>
            <a:pPr marL="0" indent="0" algn="ctr">
              <a:lnSpc>
                <a:spcPct val="170000"/>
              </a:lnSpc>
              <a:buNone/>
            </a:pPr>
            <a:endParaRPr lang="en-US" sz="1500" dirty="0"/>
          </a:p>
          <a:p>
            <a:pPr marL="0" indent="0" algn="ctr">
              <a:lnSpc>
                <a:spcPct val="170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말씀드리는 건 현재의 이야기가 아니라,</a:t>
            </a:r>
            <a:endParaRPr lang="en-US" sz="1500" dirty="0"/>
          </a:p>
          <a:p>
            <a:pPr marL="0" indent="0" algn="ctr">
              <a:lnSpc>
                <a:spcPct val="170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그때 제가 실제로 가장 많이 막혔던 순간의 이야기입니다.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905756" y="15544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E4EAFF"/>
          </a:solidFill>
          <a:ln/>
        </p:spPr>
      </p:sp>
      <p:sp>
        <p:nvSpPr>
          <p:cNvPr id="4" name="Text 2"/>
          <p:cNvSpPr/>
          <p:nvPr/>
        </p:nvSpPr>
        <p:spPr>
          <a:xfrm>
            <a:off x="4905756" y="155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QUESTION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97280" y="1280160"/>
            <a:ext cx="9966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"최근 30일 동안</a:t>
            </a:r>
            <a:endParaRPr lang="en-US" sz="4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거래가 없던 계좌 찾아줘"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560320" y="3794760"/>
            <a:ext cx="7040880" cy="1600200"/>
          </a:xfrm>
          <a:prstGeom prst="roundRect">
            <a:avLst>
              <a:gd name="adj" fmla="val 8571"/>
            </a:avLst>
          </a:prstGeom>
          <a:solidFill>
            <a:srgbClr val="F8F9FF"/>
          </a:solidFill>
          <a:ln w="12700">
            <a:solidFill>
              <a:srgbClr val="E0E8FF"/>
            </a:solidFill>
            <a:prstDash val="solid"/>
          </a:ln>
          <a:effectLst>
            <a:outerShdw blurRad="101600" dist="254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3931920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봤을 때는 누구나 이렇게 생각합니다.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60320" y="4389120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정도 질문은 AI가 당연히 잘하겠지."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905756" y="15544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E4EAFF"/>
          </a:solidFill>
          <a:ln/>
        </p:spPr>
      </p:sp>
      <p:sp>
        <p:nvSpPr>
          <p:cNvPr id="4" name="Text 2"/>
          <p:cNvSpPr/>
          <p:nvPr/>
        </p:nvSpPr>
        <p:spPr>
          <a:xfrm>
            <a:off x="4905756" y="155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RESPONSE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48640"/>
            <a:ext cx="6583680" cy="5852160"/>
          </a:xfrm>
          <a:prstGeom prst="roundRect">
            <a:avLst>
              <a:gd name="adj" fmla="val 1875"/>
            </a:avLst>
          </a:prstGeom>
          <a:solidFill>
            <a:srgbClr val="F2F4F8"/>
          </a:solidFill>
          <a:ln w="12700">
            <a:solidFill>
              <a:srgbClr val="C5CDE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20040" y="598932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 ChatGPT 화면 캡처</a:t>
            </a:r>
            <a:endParaRPr lang="en-US" sz="900" dirty="0"/>
          </a:p>
        </p:txBody>
      </p:sp>
      <p:pic>
        <p:nvPicPr>
          <p:cNvPr id="8" name="Image 0" descr="C:\Users\김광현\Desktop\클로드작업물\mockup_s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48640"/>
            <a:ext cx="6583680" cy="58521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223760" y="548640"/>
            <a:ext cx="4663440" cy="3063240"/>
          </a:xfrm>
          <a:prstGeom prst="roundRect">
            <a:avLst>
              <a:gd name="adj" fmla="val 4179"/>
            </a:avLst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  <a:effectLst>
            <a:outerShdw blurRad="101600" dist="25400" dir="16200000" algn="bl" rotWithShape="0">
              <a:srgbClr val="EF4444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24928" y="713232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7424928" y="713232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이건 정답이 아닙니다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424928" y="114300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원하는 건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"방법 설명"이 아닙니다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424928" y="2148840"/>
            <a:ext cx="4206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당장 </a:t>
            </a:r>
            <a:r>
              <a:rPr lang="en-US" sz="14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계좌가 몇 개인지</a:t>
            </a:r>
            <a:r>
              <a:rPr lang="en-US" sz="14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endParaRPr lang="en-US" sz="14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판단할 수 있는 </a:t>
            </a:r>
            <a:endParaRPr lang="en-US" sz="14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구조화된 숫자</a:t>
            </a:r>
            <a:r>
              <a:rPr lang="en-US" sz="14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필요합니다.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223760" y="3749040"/>
            <a:ext cx="466344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406640" y="38862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VS 현실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406640" y="429768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06640" y="43616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답변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406640" y="46634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쿼리를 활용하거나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필터를 사용하면...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32688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9875520" y="429768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75520" y="43616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원하는 답변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875520" y="46634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 없는 계좌 12개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계좌번호 목록 즉시 출력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905756" y="15544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E4EAFF"/>
          </a:solidFill>
          <a:ln/>
        </p:spPr>
      </p:sp>
      <p:sp>
        <p:nvSpPr>
          <p:cNvPr id="4" name="Text 2"/>
          <p:cNvSpPr/>
          <p:nvPr/>
        </p:nvSpPr>
        <p:spPr>
          <a:xfrm>
            <a:off x="4905756" y="155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INSIGHT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914400"/>
            <a:ext cx="1219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원하는 건
</a:t>
            </a:r>
            <a:r>
              <a:rPr lang="en-US" sz="3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설명이 아니라, 바로 판단할 수 있는 데이터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828800" y="2926080"/>
            <a:ext cx="2651760" cy="2468880"/>
          </a:xfrm>
          <a:prstGeom prst="roundRect">
            <a:avLst>
              <a:gd name="adj" fmla="val 6667"/>
            </a:avLst>
          </a:prstGeom>
          <a:solidFill>
            <a:srgbClr val="F8F9FF"/>
          </a:solidFill>
          <a:ln w="12700">
            <a:solidFill>
              <a:srgbClr val="DDE4FF"/>
            </a:solidFill>
            <a:prstDash val="solid"/>
          </a:ln>
          <a:effectLst>
            <a:outerShdw blurRad="76200" dist="381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88920" y="2926080"/>
            <a:ext cx="73152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309067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828800" y="39319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계좌가</a:t>
            </a:r>
            <a:endParaRPr lang="en-US" sz="15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개인지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846320" y="2926080"/>
            <a:ext cx="2651760" cy="2468880"/>
          </a:xfrm>
          <a:prstGeom prst="roundRect">
            <a:avLst>
              <a:gd name="adj" fmla="val 6667"/>
            </a:avLst>
          </a:prstGeom>
          <a:solidFill>
            <a:srgbClr val="F8F9FF"/>
          </a:solidFill>
          <a:ln w="12700">
            <a:solidFill>
              <a:srgbClr val="DDE4FF"/>
            </a:solidFill>
            <a:prstDash val="solid"/>
          </a:ln>
          <a:effectLst>
            <a:outerShdw blurRad="76200" dist="381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06440" y="2926080"/>
            <a:ext cx="73152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309067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846320" y="39319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계좌가</a:t>
            </a:r>
            <a:endParaRPr lang="en-US" sz="15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멈춰 있는지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863840" y="2926080"/>
            <a:ext cx="2651760" cy="2468880"/>
          </a:xfrm>
          <a:prstGeom prst="roundRect">
            <a:avLst>
              <a:gd name="adj" fmla="val 6667"/>
            </a:avLst>
          </a:prstGeom>
          <a:solidFill>
            <a:srgbClr val="F8F9FF"/>
          </a:solidFill>
          <a:ln w="12700">
            <a:solidFill>
              <a:srgbClr val="DDE4FF"/>
            </a:solidFill>
            <a:prstDash val="solid"/>
          </a:ln>
          <a:effectLst>
            <a:outerShdw blurRad="76200" dist="381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823960" y="2926080"/>
            <a:ext cx="73152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0" y="309067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863840" y="39319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판단할 수</a:t>
            </a:r>
            <a:endParaRPr lang="en-US" sz="15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있는 형태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905756" y="15544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E4EAFF"/>
          </a:solidFill>
          <a:ln/>
        </p:spPr>
      </p:sp>
      <p:sp>
        <p:nvSpPr>
          <p:cNvPr id="4" name="Text 2"/>
          <p:cNvSpPr/>
          <p:nvPr/>
        </p:nvSpPr>
        <p:spPr>
          <a:xfrm>
            <a:off x="4905756" y="155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LIMITATION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804672"/>
            <a:ext cx="1219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프롬프트를 길게 쓰면 해결될까?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162763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01168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설명을 붙이고, 예시를 넣고,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조건을 더 자세히 적으면 될 줄 알았습니다.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2788920"/>
            <a:ext cx="4846320" cy="2286000"/>
          </a:xfrm>
          <a:prstGeom prst="roundRect">
            <a:avLst>
              <a:gd name="adj" fmla="val 4800"/>
            </a:avLst>
          </a:prstGeom>
          <a:solidFill>
            <a:srgbClr val="1E1E2E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61872" y="2944368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1" name="Shape 9"/>
          <p:cNvSpPr/>
          <p:nvPr/>
        </p:nvSpPr>
        <p:spPr>
          <a:xfrm>
            <a:off x="1435608" y="2944368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609344" y="2944368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3" name="Text 11"/>
          <p:cNvSpPr/>
          <p:nvPr/>
        </p:nvSpPr>
        <p:spPr>
          <a:xfrm>
            <a:off x="1783080" y="288950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prompt.txt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34440" y="3182112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A8B4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최근 30일 동안 거래가 없는 계좌를 찾아줘.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A8B4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여기서 30일은 오늘 기준 정확히 30일 전(캘린더 기준)이고,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A8B4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거래는 입금·출금·자동이체 모두 포함해.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A8B4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단, 내부 이체는 제외하고 외부 거래만 봐줘.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A8B4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수시 입출금 계좌만 해당하고, 법인·개인 명의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A8B4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계좌 모두 포함해서 회사명 / 계좌번호 /</a:t>
            </a:r>
            <a:endParaRPr lang="en-US" sz="10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A8B4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마지막 거래일 순으로 정리해줘.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162763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20116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모델 버전이 바뀌면 답이 흔들렸고,</a:t>
            </a:r>
            <a:endParaRPr lang="en-US" sz="1300" dirty="0"/>
          </a:p>
          <a:p>
            <a:pPr marL="0" indent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영역이 확장되면 결과가 달라졌습니다.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2971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질문, 다른 답변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0" y="3337560"/>
            <a:ext cx="4663440" cy="822960"/>
          </a:xfrm>
          <a:prstGeom prst="roundRect">
            <a:avLst>
              <a:gd name="adj" fmla="val 11111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93408" y="3392424"/>
            <a:ext cx="10972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3월 12일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93408" y="3621024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0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계좌는 총 12개입니다.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83680" y="4251960"/>
            <a:ext cx="4663440" cy="822960"/>
          </a:xfrm>
          <a:prstGeom prst="roundRect">
            <a:avLst>
              <a:gd name="adj" fmla="val 11111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93408" y="4306824"/>
            <a:ext cx="3200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F123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3월 13일 (모델 업데이트 후)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93408" y="4535424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0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 내역이 없는 계좌는 확인되지 않습니다.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645920" y="5257800"/>
            <a:ext cx="8869680" cy="1051560"/>
          </a:xfrm>
          <a:prstGeom prst="roundRect">
            <a:avLst>
              <a:gd name="adj" fmla="val 12174"/>
            </a:avLst>
          </a:prstGeom>
          <a:solidFill>
            <a:srgbClr val="111111"/>
          </a:solidFill>
          <a:ln/>
        </p:spPr>
      </p:sp>
      <p:sp>
        <p:nvSpPr>
          <p:cNvPr id="25" name="Text 23"/>
          <p:cNvSpPr/>
          <p:nvPr/>
        </p:nvSpPr>
        <p:spPr>
          <a:xfrm>
            <a:off x="1645920" y="5257800"/>
            <a:ext cx="8869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질문 하나를 붙잡고 거의 </a:t>
            </a:r>
            <a:r>
              <a:rPr lang="en-US" sz="18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36시간</a:t>
            </a: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씨름한 뒤에야</a:t>
            </a:r>
            <a:endParaRPr lang="en-US" sz="14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가지가 동시에 맞아야 한다는 걸 알게 됐습니다.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905"/>
            <a:ext cx="12192000" cy="685990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0E0E">
              <a:alpha val="40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4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r>
              <a:rPr lang="en-US" sz="44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</a:t>
            </a:r>
            <a:endParaRPr lang="en-US" sz="144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1800225"/>
            <a:ext cx="82975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+mn-ea"/>
                <a:cs typeface="Pretendard" panose="02000503000000020004" pitchFamily="2" charset="-127"/>
              </a:rPr>
              <a:t>이 질문 하나를 해결하기 위해 </a:t>
            </a:r>
            <a:r>
              <a:rPr lang="en-US" dirty="0" err="1">
                <a:solidFill>
                  <a:schemeClr val="bg1"/>
                </a:solidFill>
                <a:latin typeface="+mn-ea"/>
                <a:cs typeface="Pretendard" panose="02000503000000020004" pitchFamily="2" charset="-127"/>
              </a:rPr>
              <a:t>붙잡고</a:t>
            </a:r>
            <a:r>
              <a:rPr lang="en-US" dirty="0">
                <a:solidFill>
                  <a:schemeClr val="bg1"/>
                </a:solidFill>
                <a:latin typeface="+mn-ea"/>
                <a:cs typeface="Pretendard" panose="02000503000000020004" pitchFamily="2" charset="-127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+mn-ea"/>
                <a:cs typeface="Pretendard" panose="02000503000000020004" pitchFamily="2" charset="-127"/>
              </a:rPr>
              <a:t>있었던</a:t>
            </a:r>
            <a:endParaRPr lang="en-US" dirty="0">
              <a:solidFill>
                <a:schemeClr val="bg1"/>
              </a:solidFill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604465" y="4514850"/>
            <a:ext cx="6241460" cy="15792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400" b="1" i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새벽 3시, 모니터 불빛만 남은 사무실.</a:t>
            </a:r>
            <a:endParaRPr lang="en-US" sz="1400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400" b="1" i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질문을 수십 번 고쳐 쓰며</a:t>
            </a:r>
            <a:endParaRPr lang="en-US" sz="1400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400" b="1" i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"왜 이게 안 되지?"를 반복했습니다.</a:t>
            </a:r>
            <a:endParaRPr lang="en-US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0178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94560"/>
            <a:ext cx="5486400" cy="5486400"/>
          </a:xfrm>
          <a:prstGeom prst="ellipse">
            <a:avLst/>
          </a:prstGeom>
          <a:solidFill>
            <a:srgbClr val="FFFFFF">
              <a:alpha val="6000"/>
            </a:srgbClr>
          </a:solidFill>
          <a:ln w="25400">
            <a:solidFill>
              <a:srgbClr val="4466CC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011680" y="4389120"/>
            <a:ext cx="4572000" cy="4572000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3355BB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05756" y="18288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0A1440"/>
          </a:solidFill>
          <a:ln w="12700">
            <a:solidFill>
              <a:srgbClr val="2A3A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05756" y="182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PRINCIPLES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0" y="640080"/>
            <a:ext cx="1219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가지가 동시에 맞아야 한다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3566160" cy="5074920"/>
          </a:xfrm>
          <a:prstGeom prst="roundRect">
            <a:avLst>
              <a:gd name="adj" fmla="val 4103"/>
            </a:avLst>
          </a:prstGeom>
          <a:solidFill>
            <a:srgbClr val="0A1440"/>
          </a:solidFill>
          <a:ln w="12700">
            <a:solidFill>
              <a:srgbClr val="2A3A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508760"/>
            <a:ext cx="3163824" cy="45720"/>
          </a:xfrm>
          <a:prstGeom prst="roundRect">
            <a:avLst>
              <a:gd name="adj" fmla="val 40000"/>
            </a:avLst>
          </a:prstGeom>
          <a:solidFill>
            <a:srgbClr val="60A5FA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171907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04088" y="20848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설정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04088" y="2423160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1A2E6E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242316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DSL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4088" y="2852928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"최근 30일" — 기준이 필요하다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04088" y="3822192"/>
            <a:ext cx="3163824" cy="18288"/>
          </a:xfrm>
          <a:prstGeom prst="rect">
            <a:avLst/>
          </a:prstGeom>
          <a:solidFill>
            <a:srgbClr val="1E2D60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3913632"/>
            <a:ext cx="316382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AA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오늘? 영업일? 정산일?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AA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틀린 게 아니라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AA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기준을 정의하지 않았던 것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4088" y="5303520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업무 규칙이 반영된 언어(DSL)로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변환하는 구조를 만들었다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43400" y="1508760"/>
            <a:ext cx="3566160" cy="5074920"/>
          </a:xfrm>
          <a:prstGeom prst="roundRect">
            <a:avLst>
              <a:gd name="adj" fmla="val 4103"/>
            </a:avLst>
          </a:prstGeom>
          <a:solidFill>
            <a:srgbClr val="0A1440"/>
          </a:solidFill>
          <a:ln w="12700">
            <a:solidFill>
              <a:srgbClr val="2A3A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44568" y="1508760"/>
            <a:ext cx="3163824" cy="45720"/>
          </a:xfrm>
          <a:prstGeom prst="roundRect">
            <a:avLst>
              <a:gd name="adj" fmla="val 40000"/>
            </a:avLst>
          </a:prstGeom>
          <a:solidFill>
            <a:srgbClr val="60A5FA"/>
          </a:solidFill>
          <a:ln/>
        </p:spPr>
      </p:sp>
      <p:sp>
        <p:nvSpPr>
          <p:cNvPr id="19" name="Text 17"/>
          <p:cNvSpPr/>
          <p:nvPr/>
        </p:nvSpPr>
        <p:spPr>
          <a:xfrm>
            <a:off x="4544568" y="171907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44568" y="20848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의도 파악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44568" y="2423160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1A2E6E"/>
          </a:solidFill>
          <a:ln/>
        </p:spPr>
      </p:sp>
      <p:sp>
        <p:nvSpPr>
          <p:cNvPr id="22" name="Text 20"/>
          <p:cNvSpPr/>
          <p:nvPr/>
        </p:nvSpPr>
        <p:spPr>
          <a:xfrm>
            <a:off x="4544568" y="242316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44568" y="2852928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"거래"가 뭔지 AI는 모른다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44568" y="3822192"/>
            <a:ext cx="3163824" cy="18288"/>
          </a:xfrm>
          <a:prstGeom prst="rect">
            <a:avLst/>
          </a:prstGeom>
          <a:solidFill>
            <a:srgbClr val="1E2D60"/>
          </a:solidFill>
          <a:ln/>
        </p:spPr>
      </p:sp>
      <p:sp>
        <p:nvSpPr>
          <p:cNvPr id="25" name="Text 23"/>
          <p:cNvSpPr/>
          <p:nvPr/>
        </p:nvSpPr>
        <p:spPr>
          <a:xfrm>
            <a:off x="4544568" y="3913632"/>
            <a:ext cx="316382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AA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입금만? 출금도? 자동이체까지?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AA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정확히 정하지 않으면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AA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겉으로 맞아 보이는데 실제로 틀린 답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44568" y="5303520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가장 오래 막혔던 부분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83880" y="1508760"/>
            <a:ext cx="3566160" cy="5074920"/>
          </a:xfrm>
          <a:prstGeom prst="roundRect">
            <a:avLst>
              <a:gd name="adj" fmla="val 4103"/>
            </a:avLst>
          </a:prstGeom>
          <a:solidFill>
            <a:srgbClr val="0A1440"/>
          </a:solidFill>
          <a:ln w="12700">
            <a:solidFill>
              <a:srgbClr val="2A3A7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85048" y="1508760"/>
            <a:ext cx="3163824" cy="45720"/>
          </a:xfrm>
          <a:prstGeom prst="roundRect">
            <a:avLst>
              <a:gd name="adj" fmla="val 40000"/>
            </a:avLst>
          </a:prstGeom>
          <a:solidFill>
            <a:srgbClr val="60A5FA"/>
          </a:solidFill>
          <a:ln/>
        </p:spPr>
      </p:sp>
      <p:sp>
        <p:nvSpPr>
          <p:cNvPr id="29" name="Text 27"/>
          <p:cNvSpPr/>
          <p:nvPr/>
        </p:nvSpPr>
        <p:spPr>
          <a:xfrm>
            <a:off x="8385048" y="171907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85048" y="20848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표현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385048" y="2423160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1A2E6E"/>
          </a:solidFill>
          <a:ln/>
        </p:spPr>
      </p:sp>
      <p:sp>
        <p:nvSpPr>
          <p:cNvPr id="32" name="Text 30"/>
          <p:cNvSpPr/>
          <p:nvPr/>
        </p:nvSpPr>
        <p:spPr>
          <a:xfrm>
            <a:off x="8385048" y="242316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Format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85048" y="2852928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데이터를 맞게 가져와도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문장으로 길게 나오면 쓸 수 없다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385048" y="3822192"/>
            <a:ext cx="3163824" cy="18288"/>
          </a:xfrm>
          <a:prstGeom prst="rect">
            <a:avLst/>
          </a:prstGeom>
          <a:solidFill>
            <a:srgbClr val="1E2D60"/>
          </a:solidFill>
          <a:ln/>
        </p:spPr>
      </p:sp>
      <p:sp>
        <p:nvSpPr>
          <p:cNvPr id="35" name="Text 33"/>
          <p:cNvSpPr/>
          <p:nvPr/>
        </p:nvSpPr>
        <p:spPr>
          <a:xfrm>
            <a:off x="8385048" y="3913632"/>
            <a:ext cx="316382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AA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"계좌는 총 12개이며..."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AA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고객은 바로 판단할 수 없다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385048" y="5303520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숫자는 숫자답게,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계좌는 계좌답게, 구조화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94560"/>
            <a:ext cx="5486400" cy="5486400"/>
          </a:xfrm>
          <a:prstGeom prst="ellipse">
            <a:avLst/>
          </a:prstGeom>
          <a:solidFill>
            <a:srgbClr val="FFFFFF">
              <a:alpha val="6000"/>
            </a:srgbClr>
          </a:solidFill>
          <a:ln w="25400">
            <a:solidFill>
              <a:srgbClr val="4466CC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011680" y="4389120"/>
            <a:ext cx="4572000" cy="4572000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3355BB">
                <a:alpha val="2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914400"/>
            <a:ext cx="1219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 dirty="0">
                <a:solidFill>
                  <a:srgbClr val="2335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1371600" y="1920240"/>
            <a:ext cx="9418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이해하는 것과
사용자가 바로 판단할 수 있도록
결과를 완성하는 건
</a:t>
            </a:r>
            <a:r>
              <a:rPr lang="en-US" sz="32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완전히 다른 문제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0" y="566928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466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36시간의 경험에서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905756" y="15544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E4EAFF"/>
          </a:solidFill>
          <a:ln/>
        </p:spPr>
      </p:sp>
      <p:sp>
        <p:nvSpPr>
          <p:cNvPr id="4" name="Text 2"/>
          <p:cNvSpPr/>
          <p:nvPr/>
        </p:nvSpPr>
        <p:spPr>
          <a:xfrm>
            <a:off x="4905756" y="155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713232"/>
            <a:ext cx="1219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 질문으로 시작했습니다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56032" y="1417320"/>
            <a:ext cx="2697480" cy="841248"/>
          </a:xfrm>
          <a:prstGeom prst="roundRect">
            <a:avLst>
              <a:gd name="adj" fmla="val 1087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65506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A2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맑은 고딕" pitchFamily="34" charset="-120"/>
              </a:rPr>
              <a:t>이번달 수시입출 거래내역 보여줘</a:t>
            </a:r>
            <a:endParaRPr lang="en-US" sz="1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108960" y="1417320"/>
            <a:ext cx="2697480" cy="841248"/>
          </a:xfrm>
          <a:prstGeom prst="roundRect">
            <a:avLst>
              <a:gd name="adj" fmla="val 1087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65506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A2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맑은 고딕" pitchFamily="34" charset="-120"/>
              </a:rPr>
              <a:t>지난달 은행별 총입금액 알려줘</a:t>
            </a:r>
            <a:endParaRPr lang="en-US" sz="1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56032" y="2404872"/>
            <a:ext cx="2697480" cy="841248"/>
          </a:xfrm>
          <a:prstGeom prst="roundRect">
            <a:avLst>
              <a:gd name="adj" fmla="val 1087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64261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A2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맑은 고딕" pitchFamily="34" charset="-120"/>
              </a:rPr>
              <a:t>현재 수시입출계좌 잔액 보여줘</a:t>
            </a:r>
            <a:endParaRPr lang="en-US" sz="1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108960" y="2404872"/>
            <a:ext cx="2697480" cy="841248"/>
          </a:xfrm>
          <a:prstGeom prst="roundRect">
            <a:avLst>
              <a:gd name="adj" fmla="val 1087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264261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A2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맑은 고딕" pitchFamily="34" charset="-120"/>
              </a:rPr>
              <a:t>이번달 말 전체 가용자금 얼마야?</a:t>
            </a:r>
            <a:endParaRPr lang="en-US" sz="1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56032" y="3392424"/>
            <a:ext cx="2697480" cy="841248"/>
          </a:xfrm>
          <a:prstGeom prst="roundRect">
            <a:avLst>
              <a:gd name="adj" fmla="val 1087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6301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A2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맑은 고딕" pitchFamily="34" charset="-120"/>
              </a:rPr>
              <a:t>이번달 법인카드 사용금액 알려줘</a:t>
            </a:r>
            <a:endParaRPr lang="en-US" sz="1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108960" y="3392424"/>
            <a:ext cx="2697480" cy="841248"/>
          </a:xfrm>
          <a:prstGeom prst="roundRect">
            <a:avLst>
              <a:gd name="adj" fmla="val 10870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0" y="36301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A2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맑은 고딕" pitchFamily="34" charset="-120"/>
              </a:rPr>
              <a:t>법인카드 한도 및 잔여한도 보여줘</a:t>
            </a:r>
            <a:endParaRPr lang="en-US" sz="1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56032" y="4379976"/>
            <a:ext cx="2697480" cy="841248"/>
          </a:xfrm>
          <a:prstGeom prst="roundRect">
            <a:avLst>
              <a:gd name="adj" fmla="val 10870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46177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A2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맑은 고딕" pitchFamily="34" charset="-120"/>
              </a:rPr>
              <a:t>전체 계좌 목록 보여줘</a:t>
            </a:r>
            <a:endParaRPr lang="en-US" sz="1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108960" y="4379976"/>
            <a:ext cx="2697480" cy="841248"/>
          </a:xfrm>
          <a:prstGeom prst="roundRect">
            <a:avLst>
              <a:gd name="adj" fmla="val 1087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0" y="46177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A2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맑은 고딕" pitchFamily="34" charset="-120"/>
              </a:rPr>
              <a:t>이번달 매입 세금계산서 목록 보여줘</a:t>
            </a:r>
            <a:endParaRPr lang="en-US" sz="1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256032" y="5367528"/>
            <a:ext cx="2697480" cy="841248"/>
          </a:xfrm>
          <a:prstGeom prst="roundRect">
            <a:avLst>
              <a:gd name="adj" fmla="val 10870"/>
            </a:avLst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560527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A2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맑은 고딕" pitchFamily="34" charset="-120"/>
              </a:rPr>
              <a:t>오늘 달러 환율 알려줘</a:t>
            </a:r>
            <a:endParaRPr lang="en-US" sz="1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3108960" y="5367528"/>
            <a:ext cx="2697480" cy="841248"/>
          </a:xfrm>
          <a:prstGeom prst="roundRect">
            <a:avLst>
              <a:gd name="adj" fmla="val 1087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0" y="560527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A2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맑은 고딕" pitchFamily="34" charset="-120"/>
              </a:rPr>
              <a:t>현재 보유 증권 현황 보여줘</a:t>
            </a:r>
            <a:endParaRPr lang="en-US" sz="1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5961888" y="347014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3000" dirty="0"/>
          </a:p>
        </p:txBody>
      </p:sp>
      <p:sp>
        <p:nvSpPr>
          <p:cNvPr id="48" name="Shape 46"/>
          <p:cNvSpPr/>
          <p:nvPr/>
        </p:nvSpPr>
        <p:spPr>
          <a:xfrm>
            <a:off x="6812280" y="1892808"/>
            <a:ext cx="5074920" cy="3840480"/>
          </a:xfrm>
          <a:prstGeom prst="roundRect">
            <a:avLst>
              <a:gd name="adj" fmla="val 4762"/>
            </a:avLst>
          </a:prstGeom>
          <a:solidFill>
            <a:srgbClr val="2563EB"/>
          </a:solidFill>
          <a:ln/>
          <a:effectLst>
            <a:outerShdw blurRad="177800" dist="50800" dir="16200000" algn="bl" rotWithShape="0">
              <a:srgbClr val="2563EB">
                <a:alpha val="2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812280" y="2212848"/>
            <a:ext cx="5074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</a:t>
            </a:r>
            <a:endParaRPr lang="en-US" sz="7200" dirty="0"/>
          </a:p>
        </p:txBody>
      </p:sp>
      <p:sp>
        <p:nvSpPr>
          <p:cNvPr id="50" name="Text 48"/>
          <p:cNvSpPr/>
          <p:nvPr/>
        </p:nvSpPr>
        <p:spPr>
          <a:xfrm>
            <a:off x="6812280" y="4087368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질문 세트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1" name="Text 49"/>
          <p:cNvSpPr/>
          <p:nvPr/>
        </p:nvSpPr>
        <p:spPr>
          <a:xfrm>
            <a:off x="6812280" y="4608576"/>
            <a:ext cx="5074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분석 → 업무별 분류 → 반복 추가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52" name="Text 50"/>
          <p:cNvSpPr/>
          <p:nvPr/>
        </p:nvSpPr>
        <p:spPr>
          <a:xfrm>
            <a:off x="6812280" y="5047488"/>
            <a:ext cx="5074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10개에서 출발</a:t>
            </a:r>
            <a:endParaRPr lang="en-US" sz="10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204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905756" y="15544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E4EAFF"/>
          </a:solidFill>
          <a:ln/>
        </p:spPr>
      </p:sp>
      <p:sp>
        <p:nvSpPr>
          <p:cNvPr id="4" name="Text 2"/>
          <p:cNvSpPr/>
          <p:nvPr/>
        </p:nvSpPr>
        <p:spPr>
          <a:xfrm>
            <a:off x="4905756" y="155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RESULT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713232"/>
            <a:ext cx="1219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1,000개 질문으로 검증한 결과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0" y="1325880"/>
            <a:ext cx="1219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예전: 질문 하나에 36시간  →  지금: 10분마다 질문-답변 세트 생성·검증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71600" y="1828800"/>
            <a:ext cx="9445752" cy="18288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0" y="2011680"/>
            <a:ext cx="8869680" cy="3063240"/>
          </a:xfrm>
          <a:prstGeom prst="roundRect">
            <a:avLst>
              <a:gd name="adj" fmla="val 5970"/>
            </a:avLst>
          </a:prstGeom>
          <a:solidFill>
            <a:srgbClr val="FFFBEB"/>
          </a:solidFill>
          <a:ln w="19050">
            <a:solidFill>
              <a:srgbClr val="FDE68A"/>
            </a:solidFill>
            <a:prstDash val="solid"/>
          </a:ln>
          <a:effectLst>
            <a:outerShdw blurRad="127000" dist="38100" dir="16200000" algn="bl" rotWithShape="0">
              <a:srgbClr val="EAB308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645920" y="2103120"/>
            <a:ext cx="88696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EAB3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97%</a:t>
            </a:r>
            <a:endParaRPr lang="en-US" sz="9600" dirty="0"/>
          </a:p>
        </p:txBody>
      </p:sp>
      <p:sp>
        <p:nvSpPr>
          <p:cNvPr id="11" name="Text 9"/>
          <p:cNvSpPr/>
          <p:nvPr/>
        </p:nvSpPr>
        <p:spPr>
          <a:xfrm>
            <a:off x="1645920" y="4069080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정답률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54880" y="5257800"/>
            <a:ext cx="2679192" cy="347472"/>
          </a:xfrm>
          <a:prstGeom prst="roundRect">
            <a:avLst>
              <a:gd name="adj" fmla="val 39474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5257800"/>
            <a:ext cx="2679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65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→  100%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0" y="5989320"/>
            <a:ext cx="1219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금융에서는 </a:t>
            </a:r>
            <a:r>
              <a:rPr lang="en-US" sz="13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99%도 불안합니다.</a:t>
            </a:r>
            <a:r>
              <a:rPr lang="en-US" sz="13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고객은 항상 100%를 기대합니다.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905756" y="15544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E4EAFF"/>
          </a:solidFill>
          <a:ln/>
        </p:spPr>
      </p:sp>
      <p:sp>
        <p:nvSpPr>
          <p:cNvPr id="4" name="Text 2"/>
          <p:cNvSpPr/>
          <p:nvPr/>
        </p:nvSpPr>
        <p:spPr>
          <a:xfrm>
            <a:off x="4905756" y="155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BEFORE &amp; AFTER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548640"/>
            <a:ext cx="1219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1111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질문, 완전히 다른 결과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0" y="1115568"/>
            <a:ext cx="1219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6개월 전에는 되묻기만 했던 질문이, 지금은 즉시 구조화된 데이터로 나옵니다.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0020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6개월 전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965960"/>
            <a:ext cx="4389120" cy="4572000"/>
          </a:xfrm>
          <a:prstGeom prst="roundRect">
            <a:avLst>
              <a:gd name="adj" fmla="val 2500"/>
            </a:avLst>
          </a:prstGeom>
          <a:solidFill>
            <a:srgbClr val="FEF5F5"/>
          </a:solidFill>
          <a:ln w="12700">
            <a:solidFill>
              <a:srgbClr val="FDB8B8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274320" y="62179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80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 BranchQ 화면 (6개월 전)</a:t>
            </a:r>
            <a:endParaRPr lang="en-US" sz="900" dirty="0"/>
          </a:p>
        </p:txBody>
      </p:sp>
      <p:pic>
        <p:nvPicPr>
          <p:cNvPr id="12" name="Image 0" descr="C:\Users\김광현\Desktop\클로드작업물\mockup_s9_befor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965960"/>
            <a:ext cx="4389120" cy="4572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709160" y="39319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CCCC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5577840" y="1600200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/>
        </p:spPr>
      </p:sp>
      <p:sp>
        <p:nvSpPr>
          <p:cNvPr id="15" name="Text 12"/>
          <p:cNvSpPr/>
          <p:nvPr/>
        </p:nvSpPr>
        <p:spPr>
          <a:xfrm>
            <a:off x="5577840" y="16002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486400" y="1920240"/>
            <a:ext cx="6400800" cy="4663440"/>
          </a:xfrm>
          <a:prstGeom prst="roundRect">
            <a:avLst>
              <a:gd name="adj" fmla="val 2353"/>
            </a:avLst>
          </a:prstGeom>
          <a:solidFill>
            <a:srgbClr val="F2FCF5"/>
          </a:solidFill>
          <a:ln w="12700">
            <a:solidFill>
              <a:srgbClr val="86EFAC"/>
            </a:solidFill>
            <a:prstDash val="dash"/>
          </a:ln>
        </p:spPr>
      </p:sp>
      <p:sp>
        <p:nvSpPr>
          <p:cNvPr id="17" name="Text 14"/>
          <p:cNvSpPr/>
          <p:nvPr/>
        </p:nvSpPr>
        <p:spPr>
          <a:xfrm>
            <a:off x="5486400" y="62453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9A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 BranchQ 화면 (현재)</a:t>
            </a:r>
            <a:endParaRPr lang="en-US" sz="900" dirty="0"/>
          </a:p>
        </p:txBody>
      </p:sp>
      <p:pic>
        <p:nvPicPr>
          <p:cNvPr id="18" name="Image 1" descr="C:\Users\김광현\Desktop\클로드작업물\mockup_s9_after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86400" y="1920240"/>
            <a:ext cx="64008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94560"/>
            <a:ext cx="5486400" cy="5486400"/>
          </a:xfrm>
          <a:prstGeom prst="ellipse">
            <a:avLst/>
          </a:prstGeom>
          <a:solidFill>
            <a:srgbClr val="FFFFFF">
              <a:alpha val="6000"/>
            </a:srgbClr>
          </a:solidFill>
          <a:ln w="25400">
            <a:solidFill>
              <a:srgbClr val="4466CC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011680" y="4389120"/>
            <a:ext cx="4572000" cy="4572000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3355BB">
                <a:alpha val="2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417320"/>
            <a:ext cx="9418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AABB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 안에 그 기업들은
</a:t>
            </a:r>
            <a:r>
              <a:rPr lang="en-US" sz="2200" b="1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브랜치Q에게 오늘 할 일을 먼저 묻고</a:t>
            </a:r>
            <a:endParaRPr lang="en-US" sz="2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AABB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하루를 시작하게 될 겁니다.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3154680"/>
            <a:ext cx="11457432" cy="18288"/>
          </a:xfrm>
          <a:prstGeom prst="rect">
            <a:avLst/>
          </a:prstGeom>
          <a:solidFill>
            <a:srgbClr val="2A3A70"/>
          </a:solidFill>
          <a:ln/>
        </p:spPr>
      </p:sp>
      <p:sp>
        <p:nvSpPr>
          <p:cNvPr id="10" name="Shape 8"/>
          <p:cNvSpPr/>
          <p:nvPr/>
        </p:nvSpPr>
        <p:spPr>
          <a:xfrm>
            <a:off x="324612" y="3327861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EEF2FF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324612" y="3327861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30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27248" y="3327861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F0FDF4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127248" y="3327861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65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29884" y="3327861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FFF7ED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5929884" y="3327861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34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732520" y="3327861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F5F3FF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8732520" y="3327861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D28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4612" y="4397709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ECFEFF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324612" y="4397709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27248" y="4397709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27248" y="4397709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1B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29884" y="4397709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FFFBEB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929884" y="4397709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732520" y="4397709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EFF6FF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8732520" y="4397709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4612" y="5467557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F0FDF4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274320" y="5751576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127248" y="5467557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F5F3FF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3076956" y="5751576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21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29884" y="5467557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FFF7ED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5879592" y="5751576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732520" y="5467557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EEF2FF"/>
          </a:solidFill>
          <a:ln w="12700">
            <a:solidFill>
              <a:srgbClr val="AABCDC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8682228" y="5751576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12E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100" dirty="0"/>
          </a:p>
        </p:txBody>
      </p:sp>
      <p:sp>
        <p:nvSpPr>
          <p:cNvPr id="35" name="Text 3"/>
          <p:cNvSpPr/>
          <p:nvPr/>
        </p:nvSpPr>
        <p:spPr>
          <a:xfrm>
            <a:off x="1385316" y="477239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600" dirty="0">
                <a:solidFill>
                  <a:srgbClr val="8899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만 개 기업이 매일 아침 브랜치를 켜고 하루를 시작합니다.</a:t>
            </a:r>
            <a:endParaRPr lang="en-US" sz="1600" dirty="0"/>
          </a:p>
        </p:txBody>
      </p:sp>
      <p:sp>
        <p:nvSpPr>
          <p:cNvPr id="36" name="Text 4"/>
          <p:cNvSpPr/>
          <p:nvPr/>
        </p:nvSpPr>
        <p:spPr>
          <a:xfrm>
            <a:off x="4357115" y="4144115"/>
            <a:ext cx="3531414" cy="101925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BranchQ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708</Words>
  <Application>Microsoft Office PowerPoint</Application>
  <PresentationFormat>와이드스크린</PresentationFormat>
  <Paragraphs>172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1" baseType="lpstr">
      <vt:lpstr>Pretendard</vt:lpstr>
      <vt:lpstr>나눔스퀘어 Bold</vt:lpstr>
      <vt:lpstr>맑은 고딕</vt:lpstr>
      <vt:lpstr>Arial</vt:lpstr>
      <vt:lpstr>Calibri</vt:lpstr>
      <vt:lpstr>Consolas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BranchQ — 질문 하나에 36시간</dc:title>
  <dc:subject>PptxGenJS Presentation</dc:subject>
  <dc:creator>김광현</dc:creator>
  <cp:lastModifiedBy>김광현</cp:lastModifiedBy>
  <cp:revision>4</cp:revision>
  <dcterms:created xsi:type="dcterms:W3CDTF">2026-03-31T05:09:24Z</dcterms:created>
  <dcterms:modified xsi:type="dcterms:W3CDTF">2026-03-31T05:46:40Z</dcterms:modified>
</cp:coreProperties>
</file>
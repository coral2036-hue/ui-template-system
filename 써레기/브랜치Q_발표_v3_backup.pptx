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9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3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96202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0214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194560"/>
            <a:ext cx="5486400" cy="5486400"/>
          </a:xfrm>
          <a:prstGeom prst="ellipse">
            <a:avLst/>
          </a:prstGeom>
          <a:solidFill>
            <a:srgbClr val="FFFFFF">
              <a:alpha val="6000"/>
            </a:srgbClr>
          </a:solidFill>
          <a:ln w="25400">
            <a:solidFill>
              <a:srgbClr val="4466CC">
                <a:alpha val="2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011680" y="4389120"/>
            <a:ext cx="4572000" cy="4572000"/>
          </a:xfrm>
          <a:prstGeom prst="ellipse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3355BB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98464" y="1463040"/>
            <a:ext cx="182880" cy="54864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173736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77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BRANCHQ PRESENTATION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0" y="2194560"/>
            <a:ext cx="1219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하나에 </a:t>
            </a:r>
            <a:r>
              <a:rPr lang="en-US" sz="5200" b="1" dirty="0">
                <a:solidFill>
                  <a:srgbClr val="60A5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36시간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0" y="3429000"/>
            <a:ext cx="1219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BAA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금융 AI가 정확한 답을 하기까지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0" y="4069080"/>
            <a:ext cx="3044952" cy="18288"/>
          </a:xfrm>
          <a:prstGeom prst="rect">
            <a:avLst/>
          </a:prstGeom>
          <a:solidFill>
            <a:srgbClr val="2A3A70"/>
          </a:solidFill>
          <a:ln/>
        </p:spPr>
      </p:sp>
      <p:sp>
        <p:nvSpPr>
          <p:cNvPr id="9" name="Text 7"/>
          <p:cNvSpPr/>
          <p:nvPr/>
        </p:nvSpPr>
        <p:spPr>
          <a:xfrm>
            <a:off x="0" y="420624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66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김광현  |  브랜치Q 담당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4905756" y="155448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E4EAFF"/>
          </a:solidFill>
          <a:ln/>
        </p:spPr>
      </p:sp>
      <p:sp>
        <p:nvSpPr>
          <p:cNvPr id="4" name="Text 2"/>
          <p:cNvSpPr/>
          <p:nvPr/>
        </p:nvSpPr>
        <p:spPr>
          <a:xfrm>
            <a:off x="4905756" y="15544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OPENING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789920" y="6601968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BranchQ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371600" y="1005840"/>
            <a:ext cx="9418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6개월 전,</a:t>
            </a:r>
            <a:endParaRPr lang="en-US" sz="36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오래 붙잡고 있었던 질문 하나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5029200" y="2560320"/>
            <a:ext cx="2130552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0" y="2834640"/>
            <a:ext cx="75895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70000"/>
              </a:lnSpc>
              <a:buNone/>
            </a:pPr>
            <a:r>
              <a:rPr lang="en-US" sz="15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오늘은 제가 약 6개월 전, 브랜치Q를 학습시키면서</a:t>
            </a:r>
            <a:endParaRPr lang="en-US" sz="1500" dirty="0"/>
          </a:p>
          <a:p>
            <a:pPr marL="0" indent="0" algn="ctr">
              <a:lnSpc>
                <a:spcPct val="170000"/>
              </a:lnSpc>
              <a:buNone/>
            </a:pPr>
            <a:r>
              <a:rPr lang="en-US" sz="15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정말 오래 붙잡고 있었던 질문 하나를 말씀드리려고 합니다.</a:t>
            </a:r>
            <a:endParaRPr lang="en-US" sz="1500" dirty="0"/>
          </a:p>
          <a:p>
            <a:pPr marL="0" indent="0" algn="ctr">
              <a:lnSpc>
                <a:spcPct val="170000"/>
              </a:lnSpc>
              <a:buNone/>
            </a:pPr>
            <a:endParaRPr lang="en-US" sz="1500" dirty="0"/>
          </a:p>
          <a:p>
            <a:pPr marL="0" indent="0" algn="ctr">
              <a:lnSpc>
                <a:spcPct val="170000"/>
              </a:lnSpc>
              <a:buNone/>
            </a:pPr>
            <a:r>
              <a:rPr lang="en-US" sz="15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말씀드리는 건 현재의 이야기가 아니라,</a:t>
            </a:r>
            <a:endParaRPr lang="en-US" sz="1500" dirty="0"/>
          </a:p>
          <a:p>
            <a:pPr marL="0" indent="0" algn="ctr">
              <a:lnSpc>
                <a:spcPct val="170000"/>
              </a:lnSpc>
              <a:buNone/>
            </a:pPr>
            <a:r>
              <a:rPr lang="en-US" sz="15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그때 제가 실제로 가장 많이 막혔던 순간의 이야기입니다.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4905756" y="155448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E4EAFF"/>
          </a:solidFill>
          <a:ln/>
        </p:spPr>
      </p:sp>
      <p:sp>
        <p:nvSpPr>
          <p:cNvPr id="4" name="Text 2"/>
          <p:cNvSpPr/>
          <p:nvPr/>
        </p:nvSpPr>
        <p:spPr>
          <a:xfrm>
            <a:off x="4905756" y="15544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QUESTION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789920" y="6601968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BranchQ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097280" y="1280160"/>
            <a:ext cx="99669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40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"최근 30일 동안</a:t>
            </a:r>
            <a:endParaRPr lang="en-US" sz="4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40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거래가 없던 계좌 찾아줘"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2560320" y="3794760"/>
            <a:ext cx="7040880" cy="1600200"/>
          </a:xfrm>
          <a:prstGeom prst="roundRect">
            <a:avLst>
              <a:gd name="adj" fmla="val 8571"/>
            </a:avLst>
          </a:prstGeom>
          <a:solidFill>
            <a:srgbClr val="F8F9FF"/>
          </a:solidFill>
          <a:ln w="12700">
            <a:solidFill>
              <a:srgbClr val="E0E8FF"/>
            </a:solidFill>
            <a:prstDash val="solid"/>
          </a:ln>
          <a:effectLst>
            <a:outerShdw blurRad="101600" dist="254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60320" y="3931920"/>
            <a:ext cx="7040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 봤을 때는 누구나 이렇게 생각합니다.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560320" y="4389120"/>
            <a:ext cx="7040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"이 정도 질문은 AI가 당연히 잘하겠지."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4905756" y="155448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E4EAFF"/>
          </a:solidFill>
          <a:ln/>
        </p:spPr>
      </p:sp>
      <p:sp>
        <p:nvSpPr>
          <p:cNvPr id="4" name="Text 2"/>
          <p:cNvSpPr/>
          <p:nvPr/>
        </p:nvSpPr>
        <p:spPr>
          <a:xfrm>
            <a:off x="4905756" y="15544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RESPONSE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789920" y="6601968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BranchQ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548640"/>
            <a:ext cx="6583680" cy="5852160"/>
          </a:xfrm>
          <a:prstGeom prst="roundRect">
            <a:avLst>
              <a:gd name="adj" fmla="val 1875"/>
            </a:avLst>
          </a:prstGeom>
          <a:solidFill>
            <a:srgbClr val="F2F4F8"/>
          </a:solidFill>
          <a:ln w="12700">
            <a:solidFill>
              <a:srgbClr val="C5CDE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320040" y="598932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 ChatGPT 화면 캡처</a:t>
            </a:r>
            <a:endParaRPr lang="en-US" sz="900" dirty="0"/>
          </a:p>
        </p:txBody>
      </p:sp>
      <p:pic>
        <p:nvPicPr>
          <p:cNvPr id="8" name="Image 0" descr="C:\Users\김광현\Desktop\클로드작업물\mockup_s4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548640"/>
            <a:ext cx="6583680" cy="58521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223760" y="548640"/>
            <a:ext cx="4663440" cy="3063240"/>
          </a:xfrm>
          <a:prstGeom prst="roundRect">
            <a:avLst>
              <a:gd name="adj" fmla="val 4179"/>
            </a:avLst>
          </a:prstGeom>
          <a:solidFill>
            <a:srgbClr val="FEF2F2"/>
          </a:solidFill>
          <a:ln w="25400">
            <a:solidFill>
              <a:srgbClr val="EF4444"/>
            </a:solidFill>
            <a:prstDash val="solid"/>
          </a:ln>
          <a:effectLst>
            <a:outerShdw blurRad="101600" dist="25400" dir="16200000" algn="bl" rotWithShape="0">
              <a:srgbClr val="EF4444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424928" y="713232"/>
            <a:ext cx="1572768" cy="310896"/>
          </a:xfrm>
          <a:prstGeom prst="roundRect">
            <a:avLst>
              <a:gd name="adj" fmla="val 23529"/>
            </a:avLst>
          </a:prstGeom>
          <a:solidFill>
            <a:srgbClr val="EF4444"/>
          </a:solidFill>
          <a:ln/>
        </p:spPr>
      </p:sp>
      <p:sp>
        <p:nvSpPr>
          <p:cNvPr id="11" name="Text 8"/>
          <p:cNvSpPr/>
          <p:nvPr/>
        </p:nvSpPr>
        <p:spPr>
          <a:xfrm>
            <a:off x="7424928" y="713232"/>
            <a:ext cx="15727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이건 정답이 아닙니다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424928" y="114300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고객이 원하는 건</a:t>
            </a:r>
            <a:endParaRPr lang="en-US" sz="1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"방법 설명"이 아닙니다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7424928" y="2148840"/>
            <a:ext cx="42062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당장 </a:t>
            </a:r>
            <a:r>
              <a:rPr lang="en-US" sz="1400" b="1" dirty="0">
                <a:solidFill>
                  <a:srgbClr val="EF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계좌가 몇 개인지</a:t>
            </a:r>
            <a:r>
              <a:rPr lang="en-US" sz="14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</a:t>
            </a:r>
            <a:endParaRPr lang="en-US" sz="14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바로 판단할 수 있는 </a:t>
            </a:r>
            <a:endParaRPr lang="en-US" sz="14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400" b="1" dirty="0">
                <a:solidFill>
                  <a:srgbClr val="EF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구조화된 숫자</a:t>
            </a:r>
            <a:r>
              <a:rPr lang="en-US" sz="14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필요합니다.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223760" y="3749040"/>
            <a:ext cx="4663440" cy="26974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7406640" y="388620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기대 VS 현실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406640" y="4297680"/>
            <a:ext cx="1828800" cy="1828800"/>
          </a:xfrm>
          <a:prstGeom prst="roundRect">
            <a:avLst>
              <a:gd name="adj" fmla="val 4000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406640" y="436168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91C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답변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406640" y="466344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B91C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SQL 쿼리를 활용하거나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B91C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필터를 사용하면...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326880" y="4937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C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9875520" y="4297680"/>
            <a:ext cx="1828800" cy="1828800"/>
          </a:xfrm>
          <a:prstGeom prst="roundRect">
            <a:avLst>
              <a:gd name="adj" fmla="val 4000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875520" y="436168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8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원하는 답변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9875520" y="466344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58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거래 없는 계좌 12개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58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계좌번호 목록 즉시 출력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4905756" y="155448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E4EAFF"/>
          </a:solidFill>
          <a:ln/>
        </p:spPr>
      </p:sp>
      <p:sp>
        <p:nvSpPr>
          <p:cNvPr id="4" name="Text 2"/>
          <p:cNvSpPr/>
          <p:nvPr/>
        </p:nvSpPr>
        <p:spPr>
          <a:xfrm>
            <a:off x="4905756" y="15544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INSIGHT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789920" y="6601968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BranchQ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0" y="914400"/>
            <a:ext cx="12192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고객이 원하는 건
</a:t>
            </a:r>
            <a:r>
              <a:rPr lang="en-US" sz="30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설명이 아니라, 바로 판단할 수 있는 데이터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1828800" y="2926080"/>
            <a:ext cx="2651760" cy="2468880"/>
          </a:xfrm>
          <a:prstGeom prst="roundRect">
            <a:avLst>
              <a:gd name="adj" fmla="val 6667"/>
            </a:avLst>
          </a:prstGeom>
          <a:solidFill>
            <a:srgbClr val="F8F9FF"/>
          </a:solidFill>
          <a:ln w="12700">
            <a:solidFill>
              <a:srgbClr val="DDE4FF"/>
            </a:solidFill>
            <a:prstDash val="solid"/>
          </a:ln>
          <a:effectLst>
            <a:outerShdw blurRad="76200" dist="381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88920" y="2926080"/>
            <a:ext cx="731520" cy="5486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0" y="3090672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1828800" y="393192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계좌가</a:t>
            </a:r>
            <a:endParaRPr lang="en-US" sz="15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개인지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846320" y="2926080"/>
            <a:ext cx="2651760" cy="2468880"/>
          </a:xfrm>
          <a:prstGeom prst="roundRect">
            <a:avLst>
              <a:gd name="adj" fmla="val 6667"/>
            </a:avLst>
          </a:prstGeom>
          <a:solidFill>
            <a:srgbClr val="F8F9FF"/>
          </a:solidFill>
          <a:ln w="12700">
            <a:solidFill>
              <a:srgbClr val="DDE4FF"/>
            </a:solidFill>
            <a:prstDash val="solid"/>
          </a:ln>
          <a:effectLst>
            <a:outerShdw blurRad="76200" dist="381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806440" y="2926080"/>
            <a:ext cx="731520" cy="5486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3090672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846320" y="393192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계좌가</a:t>
            </a:r>
            <a:endParaRPr lang="en-US" sz="15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멈춰 있는지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863840" y="2926080"/>
            <a:ext cx="2651760" cy="2468880"/>
          </a:xfrm>
          <a:prstGeom prst="roundRect">
            <a:avLst>
              <a:gd name="adj" fmla="val 6667"/>
            </a:avLst>
          </a:prstGeom>
          <a:solidFill>
            <a:srgbClr val="F8F9FF"/>
          </a:solidFill>
          <a:ln w="12700">
            <a:solidFill>
              <a:srgbClr val="DDE4FF"/>
            </a:solidFill>
            <a:prstDash val="solid"/>
          </a:ln>
          <a:effectLst>
            <a:outerShdw blurRad="76200" dist="381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823960" y="2926080"/>
            <a:ext cx="731520" cy="5486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7863840" y="3090672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7863840" y="393192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바로 판단할 수</a:t>
            </a:r>
            <a:endParaRPr lang="en-US" sz="15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있는 형태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4905756" y="155448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E4EAFF"/>
          </a:solidFill>
          <a:ln/>
        </p:spPr>
      </p:sp>
      <p:sp>
        <p:nvSpPr>
          <p:cNvPr id="4" name="Text 2"/>
          <p:cNvSpPr/>
          <p:nvPr/>
        </p:nvSpPr>
        <p:spPr>
          <a:xfrm>
            <a:off x="4905756" y="15544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LIMITATION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789920" y="6601968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BranchQ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0" y="804672"/>
            <a:ext cx="1219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프롬프트를 길게 쓰면 해결될까?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97280" y="1627632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기대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2011680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설명을 붙이고, 예시를 넣고,</a:t>
            </a:r>
            <a:endParaRPr lang="en-US" sz="12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조건을 더 자세히 적으면 될 줄 알았습니다.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97280" y="2788920"/>
            <a:ext cx="4846320" cy="2286000"/>
          </a:xfrm>
          <a:prstGeom prst="roundRect">
            <a:avLst>
              <a:gd name="adj" fmla="val 4800"/>
            </a:avLst>
          </a:prstGeom>
          <a:solidFill>
            <a:srgbClr val="1E1E2E"/>
          </a:solidFill>
          <a:ln w="12700">
            <a:solidFill>
              <a:srgbClr val="3A3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61872" y="2944368"/>
            <a:ext cx="118872" cy="118872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1" name="Shape 9"/>
          <p:cNvSpPr/>
          <p:nvPr/>
        </p:nvSpPr>
        <p:spPr>
          <a:xfrm>
            <a:off x="1435608" y="2944368"/>
            <a:ext cx="118872" cy="118872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2" name="Shape 10"/>
          <p:cNvSpPr/>
          <p:nvPr/>
        </p:nvSpPr>
        <p:spPr>
          <a:xfrm>
            <a:off x="1609344" y="2944368"/>
            <a:ext cx="118872" cy="118872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3" name="Text 11"/>
          <p:cNvSpPr/>
          <p:nvPr/>
        </p:nvSpPr>
        <p:spPr>
          <a:xfrm>
            <a:off x="1783080" y="2889504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prompt.txt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234440" y="3182112"/>
            <a:ext cx="45720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A8B4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최근 30일 동안 거래가 없는 계좌를 찾아줘.</a:t>
            </a:r>
            <a:endParaRPr lang="en-US" sz="10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A8B4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여기서 30일은 오늘 기준 정확히 30일 전(캘린더 기준)이고,</a:t>
            </a:r>
            <a:endParaRPr lang="en-US" sz="10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A8B4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거래는 입금·출금·자동이체 모두 포함해.</a:t>
            </a:r>
            <a:endParaRPr lang="en-US" sz="10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A8B4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단, 내부 이체는 제외하고 외부 거래만 봐줘.</a:t>
            </a:r>
            <a:endParaRPr lang="en-US" sz="10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A8B4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수시 입출금 계좌만 해당하고, 법인·개인 명의</a:t>
            </a:r>
            <a:endParaRPr lang="en-US" sz="10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A8B4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계좌 모두 포함해서 회사명 / 계좌번호 /</a:t>
            </a:r>
            <a:endParaRPr lang="en-US" sz="10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A8B4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마지막 거래일 순으로 정리해줘.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83680" y="1627632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현실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83680" y="201168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 모델 버전이 바뀌면 답이 흔들렸고,</a:t>
            </a:r>
            <a:endParaRPr lang="en-US" sz="1300" dirty="0"/>
          </a:p>
          <a:p>
            <a:pPr marL="0" indent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 영역이 확장되면 결과가 달라졌습니다.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83680" y="29718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질문, 다른 답변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583680" y="3337560"/>
            <a:ext cx="4663440" cy="822960"/>
          </a:xfrm>
          <a:prstGeom prst="roundRect">
            <a:avLst>
              <a:gd name="adj" fmla="val 11111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93408" y="3392424"/>
            <a:ext cx="10972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240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3월 12일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693408" y="3621024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0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계좌는 총 12개입니다.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583680" y="4251960"/>
            <a:ext cx="4663440" cy="822960"/>
          </a:xfrm>
          <a:prstGeom prst="roundRect">
            <a:avLst>
              <a:gd name="adj" fmla="val 11111"/>
            </a:avLst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93408" y="4306824"/>
            <a:ext cx="32004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F123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3월 13일 (모델 업데이트 후)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693408" y="4535424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0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거래 내역이 없는 계좌는 확인되지 않습니다.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645920" y="5257800"/>
            <a:ext cx="8869680" cy="1051560"/>
          </a:xfrm>
          <a:prstGeom prst="roundRect">
            <a:avLst>
              <a:gd name="adj" fmla="val 12174"/>
            </a:avLst>
          </a:prstGeom>
          <a:solidFill>
            <a:srgbClr val="111111"/>
          </a:solidFill>
          <a:ln/>
        </p:spPr>
      </p:sp>
      <p:sp>
        <p:nvSpPr>
          <p:cNvPr id="25" name="Text 23"/>
          <p:cNvSpPr/>
          <p:nvPr/>
        </p:nvSpPr>
        <p:spPr>
          <a:xfrm>
            <a:off x="1645920" y="5257800"/>
            <a:ext cx="8869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질문 하나를 붙잡고 거의 </a:t>
            </a:r>
            <a:r>
              <a:rPr lang="en-US" sz="1800" b="1" dirty="0">
                <a:solidFill>
                  <a:srgbClr val="60A5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36시간</a:t>
            </a: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을 씨름한 뒤에야</a:t>
            </a:r>
            <a:endParaRPr lang="en-US" sz="14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가지가 동시에 맞아야 한다는 걸 알게 됐습니다.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905"/>
            <a:ext cx="12192000" cy="6859905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0E0E">
              <a:alpha val="40000"/>
            </a:srgb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4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36</a:t>
            </a:r>
            <a:r>
              <a:rPr lang="en-US" sz="440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</a:t>
            </a:r>
            <a:endParaRPr lang="en-US" sz="14400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0" y="1800225"/>
            <a:ext cx="82975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  <a:latin typeface="+mn-ea"/>
                <a:cs typeface="Pretendard" panose="02000503000000020004" pitchFamily="2" charset="-127"/>
              </a:rPr>
              <a:t>이 질문 하나를 해결하기 위해 </a:t>
            </a:r>
            <a:r>
              <a:rPr lang="en-US" dirty="0" err="1">
                <a:solidFill>
                  <a:schemeClr val="bg1"/>
                </a:solidFill>
                <a:latin typeface="+mn-ea"/>
                <a:cs typeface="Pretendard" panose="02000503000000020004" pitchFamily="2" charset="-127"/>
              </a:rPr>
              <a:t>붙잡고</a:t>
            </a:r>
            <a:r>
              <a:rPr lang="en-US" dirty="0">
                <a:solidFill>
                  <a:schemeClr val="bg1"/>
                </a:solidFill>
                <a:latin typeface="+mn-ea"/>
                <a:cs typeface="Pretendard" panose="02000503000000020004" pitchFamily="2" charset="-127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+mn-ea"/>
                <a:cs typeface="Pretendard" panose="02000503000000020004" pitchFamily="2" charset="-127"/>
              </a:rPr>
              <a:t>있었던</a:t>
            </a:r>
            <a:endParaRPr lang="en-US" dirty="0">
              <a:solidFill>
                <a:schemeClr val="bg1"/>
              </a:solidFill>
              <a:latin typeface="+mn-ea"/>
              <a:cs typeface="Pretendard" panose="02000503000000020004" pitchFamily="2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5604465" y="4514850"/>
            <a:ext cx="6241460" cy="15792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1400" b="1" i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새벽 3시, 모니터 불빛만 남은 사무실.</a:t>
            </a:r>
            <a:endParaRPr lang="en-US" sz="1400" b="1" dirty="0">
              <a:solidFill>
                <a:schemeClr val="bg1"/>
              </a:solidFill>
            </a:endParaRPr>
          </a:p>
          <a:p>
            <a:pPr marL="0" indent="0" algn="ctr">
              <a:lnSpc>
                <a:spcPct val="160000"/>
              </a:lnSpc>
              <a:buNone/>
            </a:pPr>
            <a:r>
              <a:rPr lang="en-US" sz="1400" b="1" i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질문을 수십 번 고쳐 쓰며</a:t>
            </a:r>
            <a:endParaRPr lang="en-US" sz="1400" b="1" dirty="0">
              <a:solidFill>
                <a:schemeClr val="bg1"/>
              </a:solidFill>
            </a:endParaRPr>
          </a:p>
          <a:p>
            <a:pPr marL="0" indent="0" algn="ctr">
              <a:lnSpc>
                <a:spcPct val="160000"/>
              </a:lnSpc>
              <a:buNone/>
            </a:pPr>
            <a:r>
              <a:rPr lang="en-US" sz="1400" b="1" i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"왜 이게 안 되지?"를 반복했습니다.</a:t>
            </a:r>
            <a:endParaRPr lang="en-US" sz="1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8875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194560"/>
            <a:ext cx="5486400" cy="5486400"/>
          </a:xfrm>
          <a:prstGeom prst="ellipse">
            <a:avLst/>
          </a:prstGeom>
          <a:solidFill>
            <a:srgbClr val="FFFFFF">
              <a:alpha val="6000"/>
            </a:srgbClr>
          </a:solidFill>
          <a:ln w="25400">
            <a:solidFill>
              <a:srgbClr val="4466CC">
                <a:alpha val="2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011680" y="4389120"/>
            <a:ext cx="4572000" cy="4572000"/>
          </a:xfrm>
          <a:prstGeom prst="ellipse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3355BB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905756" y="182880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0A1440"/>
          </a:solidFill>
          <a:ln w="12700">
            <a:solidFill>
              <a:srgbClr val="2A3A7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905756" y="1828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0A5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PRINCIPLES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0" y="640080"/>
            <a:ext cx="1219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가지가 동시에 맞아야 한다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508760"/>
            <a:ext cx="3566160" cy="5074920"/>
          </a:xfrm>
          <a:prstGeom prst="roundRect">
            <a:avLst>
              <a:gd name="adj" fmla="val 4103"/>
            </a:avLst>
          </a:prstGeom>
          <a:solidFill>
            <a:srgbClr val="0A1440"/>
          </a:solidFill>
          <a:ln w="12700">
            <a:solidFill>
              <a:srgbClr val="2A3A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4088" y="1508760"/>
            <a:ext cx="3163824" cy="45720"/>
          </a:xfrm>
          <a:prstGeom prst="roundRect">
            <a:avLst>
              <a:gd name="adj" fmla="val 40000"/>
            </a:avLst>
          </a:prstGeom>
          <a:solidFill>
            <a:srgbClr val="60A5FA"/>
          </a:solidFill>
          <a:ln/>
        </p:spPr>
      </p:sp>
      <p:sp>
        <p:nvSpPr>
          <p:cNvPr id="9" name="Text 7"/>
          <p:cNvSpPr/>
          <p:nvPr/>
        </p:nvSpPr>
        <p:spPr>
          <a:xfrm>
            <a:off x="704088" y="1719072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A5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04088" y="208483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환경 설정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04088" y="2423160"/>
            <a:ext cx="777240" cy="292608"/>
          </a:xfrm>
          <a:prstGeom prst="roundRect">
            <a:avLst>
              <a:gd name="adj" fmla="val 12500"/>
            </a:avLst>
          </a:prstGeom>
          <a:solidFill>
            <a:srgbClr val="1A2E6E"/>
          </a:solidFill>
          <a:ln/>
        </p:spPr>
      </p:sp>
      <p:sp>
        <p:nvSpPr>
          <p:cNvPr id="12" name="Text 10"/>
          <p:cNvSpPr/>
          <p:nvPr/>
        </p:nvSpPr>
        <p:spPr>
          <a:xfrm>
            <a:off x="704088" y="242316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A5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DSL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04088" y="2852928"/>
            <a:ext cx="31638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"최근 30일" — 기준이 필요하다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04088" y="3822192"/>
            <a:ext cx="3163824" cy="18288"/>
          </a:xfrm>
          <a:prstGeom prst="rect">
            <a:avLst/>
          </a:prstGeom>
          <a:solidFill>
            <a:srgbClr val="1E2D60"/>
          </a:solidFill>
          <a:ln/>
        </p:spPr>
      </p:sp>
      <p:sp>
        <p:nvSpPr>
          <p:cNvPr id="15" name="Text 13"/>
          <p:cNvSpPr/>
          <p:nvPr/>
        </p:nvSpPr>
        <p:spPr>
          <a:xfrm>
            <a:off x="704088" y="3913632"/>
            <a:ext cx="3163824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9AAB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오늘? 영업일? 정산일?</a:t>
            </a:r>
            <a:endParaRPr lang="en-US" sz="12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9AAB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AI가 틀린 게 아니라</a:t>
            </a:r>
            <a:endParaRPr lang="en-US" sz="12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9AAB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우리가 기준을 정의하지 않았던 것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04088" y="5303520"/>
            <a:ext cx="31638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0A5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업무 규칙이 반영된 언어(DSL)로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0A5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변환하는 구조를 만들었다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43400" y="1508760"/>
            <a:ext cx="3566160" cy="5074920"/>
          </a:xfrm>
          <a:prstGeom prst="roundRect">
            <a:avLst>
              <a:gd name="adj" fmla="val 4103"/>
            </a:avLst>
          </a:prstGeom>
          <a:solidFill>
            <a:srgbClr val="0A1440"/>
          </a:solidFill>
          <a:ln w="12700">
            <a:solidFill>
              <a:srgbClr val="2A3A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44568" y="1508760"/>
            <a:ext cx="3163824" cy="45720"/>
          </a:xfrm>
          <a:prstGeom prst="roundRect">
            <a:avLst>
              <a:gd name="adj" fmla="val 40000"/>
            </a:avLst>
          </a:prstGeom>
          <a:solidFill>
            <a:srgbClr val="60A5FA"/>
          </a:solidFill>
          <a:ln/>
        </p:spPr>
      </p:sp>
      <p:sp>
        <p:nvSpPr>
          <p:cNvPr id="19" name="Text 17"/>
          <p:cNvSpPr/>
          <p:nvPr/>
        </p:nvSpPr>
        <p:spPr>
          <a:xfrm>
            <a:off x="4544568" y="1719072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A5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44568" y="208483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의도 파악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44568" y="2423160"/>
            <a:ext cx="777240" cy="292608"/>
          </a:xfrm>
          <a:prstGeom prst="roundRect">
            <a:avLst>
              <a:gd name="adj" fmla="val 12500"/>
            </a:avLst>
          </a:prstGeom>
          <a:solidFill>
            <a:srgbClr val="1A2E6E"/>
          </a:solidFill>
          <a:ln/>
        </p:spPr>
      </p:sp>
      <p:sp>
        <p:nvSpPr>
          <p:cNvPr id="22" name="Text 20"/>
          <p:cNvSpPr/>
          <p:nvPr/>
        </p:nvSpPr>
        <p:spPr>
          <a:xfrm>
            <a:off x="4544568" y="242316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A5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Intent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44568" y="2852928"/>
            <a:ext cx="31638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"거래"가 뭔지 AI는 모른다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544568" y="3822192"/>
            <a:ext cx="3163824" cy="18288"/>
          </a:xfrm>
          <a:prstGeom prst="rect">
            <a:avLst/>
          </a:prstGeom>
          <a:solidFill>
            <a:srgbClr val="1E2D60"/>
          </a:solidFill>
          <a:ln/>
        </p:spPr>
      </p:sp>
      <p:sp>
        <p:nvSpPr>
          <p:cNvPr id="25" name="Text 23"/>
          <p:cNvSpPr/>
          <p:nvPr/>
        </p:nvSpPr>
        <p:spPr>
          <a:xfrm>
            <a:off x="4544568" y="3913632"/>
            <a:ext cx="3163824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9AAB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입금만? 출금도? 자동이체까지?</a:t>
            </a:r>
            <a:endParaRPr lang="en-US" sz="12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9AAB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정확히 정하지 않으면</a:t>
            </a:r>
            <a:endParaRPr lang="en-US" sz="12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9AAB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겉으로 맞아 보이는데 실제로 틀린 답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44568" y="5303520"/>
            <a:ext cx="31638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0A5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가장 오래 막혔던 부분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183880" y="1508760"/>
            <a:ext cx="3566160" cy="5074920"/>
          </a:xfrm>
          <a:prstGeom prst="roundRect">
            <a:avLst>
              <a:gd name="adj" fmla="val 4103"/>
            </a:avLst>
          </a:prstGeom>
          <a:solidFill>
            <a:srgbClr val="0A1440"/>
          </a:solidFill>
          <a:ln w="12700">
            <a:solidFill>
              <a:srgbClr val="2A3A7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85048" y="1508760"/>
            <a:ext cx="3163824" cy="45720"/>
          </a:xfrm>
          <a:prstGeom prst="roundRect">
            <a:avLst>
              <a:gd name="adj" fmla="val 40000"/>
            </a:avLst>
          </a:prstGeom>
          <a:solidFill>
            <a:srgbClr val="60A5FA"/>
          </a:solidFill>
          <a:ln/>
        </p:spPr>
      </p:sp>
      <p:sp>
        <p:nvSpPr>
          <p:cNvPr id="29" name="Text 27"/>
          <p:cNvSpPr/>
          <p:nvPr/>
        </p:nvSpPr>
        <p:spPr>
          <a:xfrm>
            <a:off x="8385048" y="1719072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A5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385048" y="208483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답변 표현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385048" y="2423160"/>
            <a:ext cx="777240" cy="292608"/>
          </a:xfrm>
          <a:prstGeom prst="roundRect">
            <a:avLst>
              <a:gd name="adj" fmla="val 12500"/>
            </a:avLst>
          </a:prstGeom>
          <a:solidFill>
            <a:srgbClr val="1A2E6E"/>
          </a:solidFill>
          <a:ln/>
        </p:spPr>
      </p:sp>
      <p:sp>
        <p:nvSpPr>
          <p:cNvPr id="32" name="Text 30"/>
          <p:cNvSpPr/>
          <p:nvPr/>
        </p:nvSpPr>
        <p:spPr>
          <a:xfrm>
            <a:off x="8385048" y="242316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A5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Format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385048" y="2852928"/>
            <a:ext cx="31638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데이터를 맞게 가져와도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문장으로 길게 나오면 쓸 수 없다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8385048" y="3822192"/>
            <a:ext cx="3163824" cy="18288"/>
          </a:xfrm>
          <a:prstGeom prst="rect">
            <a:avLst/>
          </a:prstGeom>
          <a:solidFill>
            <a:srgbClr val="1E2D60"/>
          </a:solidFill>
          <a:ln/>
        </p:spPr>
      </p:sp>
      <p:sp>
        <p:nvSpPr>
          <p:cNvPr id="35" name="Text 33"/>
          <p:cNvSpPr/>
          <p:nvPr/>
        </p:nvSpPr>
        <p:spPr>
          <a:xfrm>
            <a:off x="8385048" y="3913632"/>
            <a:ext cx="3163824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9AAB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"계좌는 총 12개이며..."</a:t>
            </a:r>
            <a:endParaRPr lang="en-US" sz="12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9AAB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고객은 바로 판단할 수 없다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385048" y="5303520"/>
            <a:ext cx="31638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0A5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숫자는 숫자답게,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0A5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계좌는 계좌답게, 구조화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194560"/>
            <a:ext cx="5486400" cy="5486400"/>
          </a:xfrm>
          <a:prstGeom prst="ellipse">
            <a:avLst/>
          </a:prstGeom>
          <a:solidFill>
            <a:srgbClr val="FFFFFF">
              <a:alpha val="6000"/>
            </a:srgbClr>
          </a:solidFill>
          <a:ln w="25400">
            <a:solidFill>
              <a:srgbClr val="4466CC">
                <a:alpha val="2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011680" y="4389120"/>
            <a:ext cx="4572000" cy="4572000"/>
          </a:xfrm>
          <a:prstGeom prst="ellipse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3355BB">
                <a:alpha val="2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914400"/>
            <a:ext cx="1219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0" dirty="0">
                <a:solidFill>
                  <a:srgbClr val="2335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0000" dirty="0"/>
          </a:p>
        </p:txBody>
      </p:sp>
      <p:sp>
        <p:nvSpPr>
          <p:cNvPr id="5" name="Text 3"/>
          <p:cNvSpPr/>
          <p:nvPr/>
        </p:nvSpPr>
        <p:spPr>
          <a:xfrm>
            <a:off x="1371600" y="1920240"/>
            <a:ext cx="94183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질문을 이해하는 것과
사용자가 바로 판단할 수 있도록
결과를 완성하는 건
</a:t>
            </a:r>
            <a:r>
              <a:rPr lang="en-US" sz="3200" b="1" dirty="0">
                <a:solidFill>
                  <a:srgbClr val="60A5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완전히 다른 문제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0" y="566928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466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 36시간의 경험에서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4905756" y="155448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E4EAFF"/>
          </a:solidFill>
          <a:ln/>
        </p:spPr>
      </p:sp>
      <p:sp>
        <p:nvSpPr>
          <p:cNvPr id="4" name="Text 2"/>
          <p:cNvSpPr/>
          <p:nvPr/>
        </p:nvSpPr>
        <p:spPr>
          <a:xfrm>
            <a:off x="4905756" y="15544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PROCESS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789920" y="6601968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BranchQ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0" y="713232"/>
            <a:ext cx="12192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10개 질문으로 시작했습니다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256032" y="1417320"/>
            <a:ext cx="2697480" cy="841248"/>
          </a:xfrm>
          <a:prstGeom prst="roundRect">
            <a:avLst>
              <a:gd name="adj" fmla="val 1087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655064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A2A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이번달 수시입출 거래내역 보여줘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08960" y="1417320"/>
            <a:ext cx="2697480" cy="841248"/>
          </a:xfrm>
          <a:prstGeom prst="roundRect">
            <a:avLst>
              <a:gd name="adj" fmla="val 1087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1655064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A2A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지난달 은행별 총입금액 알려줘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56032" y="2404872"/>
            <a:ext cx="2697480" cy="841248"/>
          </a:xfrm>
          <a:prstGeom prst="roundRect">
            <a:avLst>
              <a:gd name="adj" fmla="val 10870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2642616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A2A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수시입출계좌 잔액 보여줘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108960" y="2404872"/>
            <a:ext cx="2697480" cy="841248"/>
          </a:xfrm>
          <a:prstGeom prst="roundRect">
            <a:avLst>
              <a:gd name="adj" fmla="val 10870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0" y="2642616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A2A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이번달 말 전체 가용자금 얼마야?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56032" y="3392424"/>
            <a:ext cx="2697480" cy="841248"/>
          </a:xfrm>
          <a:prstGeom prst="roundRect">
            <a:avLst>
              <a:gd name="adj" fmla="val 10870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" y="363016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A2A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이번달 법인카드 사용금액 알려줘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108960" y="3392424"/>
            <a:ext cx="2697480" cy="841248"/>
          </a:xfrm>
          <a:prstGeom prst="roundRect">
            <a:avLst>
              <a:gd name="adj" fmla="val 10870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0" y="363016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A2A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법인카드 한도 및 잔여한도 보여줘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56032" y="4379976"/>
            <a:ext cx="2697480" cy="841248"/>
          </a:xfrm>
          <a:prstGeom prst="roundRect">
            <a:avLst>
              <a:gd name="adj" fmla="val 10870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7472" y="461772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A2A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계좌 목록 보여줘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108960" y="4379976"/>
            <a:ext cx="2697480" cy="841248"/>
          </a:xfrm>
          <a:prstGeom prst="roundRect">
            <a:avLst>
              <a:gd name="adj" fmla="val 10870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0" y="461772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A2A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이번달 매입 세금계산서 목록 보여줘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56032" y="5367528"/>
            <a:ext cx="2697480" cy="841248"/>
          </a:xfrm>
          <a:prstGeom prst="roundRect">
            <a:avLst>
              <a:gd name="adj" fmla="val 10870"/>
            </a:avLst>
          </a:prstGeom>
          <a:solidFill>
            <a:srgbClr val="ECFEFF"/>
          </a:solidFill>
          <a:ln w="12700">
            <a:solidFill>
              <a:srgbClr val="A5F3F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7472" y="560527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A2A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달러 환율 알려줘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108960" y="5367528"/>
            <a:ext cx="2697480" cy="841248"/>
          </a:xfrm>
          <a:prstGeom prst="roundRect">
            <a:avLst>
              <a:gd name="adj" fmla="val 10870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00400" y="560527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A2A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보유 증권 현황 보여줘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989320" y="26060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3000" dirty="0"/>
          </a:p>
        </p:txBody>
      </p:sp>
      <p:sp>
        <p:nvSpPr>
          <p:cNvPr id="48" name="Shape 46"/>
          <p:cNvSpPr/>
          <p:nvPr/>
        </p:nvSpPr>
        <p:spPr>
          <a:xfrm>
            <a:off x="6812280" y="1417320"/>
            <a:ext cx="5074920" cy="3840480"/>
          </a:xfrm>
          <a:prstGeom prst="roundRect">
            <a:avLst>
              <a:gd name="adj" fmla="val 4762"/>
            </a:avLst>
          </a:prstGeom>
          <a:solidFill>
            <a:srgbClr val="2563EB"/>
          </a:solidFill>
          <a:ln/>
          <a:effectLst>
            <a:outerShdw blurRad="177800" dist="50800" dir="16200000" algn="bl" rotWithShape="0">
              <a:srgbClr val="2563EB">
                <a:alpha val="22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6812280" y="1737360"/>
            <a:ext cx="5074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1,000</a:t>
            </a:r>
            <a:endParaRPr lang="en-US" sz="7200" dirty="0"/>
          </a:p>
        </p:txBody>
      </p:sp>
      <p:sp>
        <p:nvSpPr>
          <p:cNvPr id="50" name="Text 48"/>
          <p:cNvSpPr/>
          <p:nvPr/>
        </p:nvSpPr>
        <p:spPr>
          <a:xfrm>
            <a:off x="6812280" y="3611880"/>
            <a:ext cx="5074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BDD0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테스트 질문 세트</a:t>
            </a:r>
            <a:endParaRPr lang="en-US" sz="1700" dirty="0"/>
          </a:p>
        </p:txBody>
      </p:sp>
      <p:sp>
        <p:nvSpPr>
          <p:cNvPr id="51" name="Text 49"/>
          <p:cNvSpPr/>
          <p:nvPr/>
        </p:nvSpPr>
        <p:spPr>
          <a:xfrm>
            <a:off x="6812280" y="4133088"/>
            <a:ext cx="5074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AA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 분석 → 업무별 분류 → 반복 추가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812280" y="4572000"/>
            <a:ext cx="5074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88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10개에서 출발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4905756" y="155448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E4EAFF"/>
          </a:solidFill>
          <a:ln/>
        </p:spPr>
      </p:sp>
      <p:sp>
        <p:nvSpPr>
          <p:cNvPr id="4" name="Text 2"/>
          <p:cNvSpPr/>
          <p:nvPr/>
        </p:nvSpPr>
        <p:spPr>
          <a:xfrm>
            <a:off x="4905756" y="15544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RESULT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789920" y="6601968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BranchQ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0" y="713232"/>
            <a:ext cx="12192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1,000개 질문으로 검증한 결과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0" y="1325880"/>
            <a:ext cx="1219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예전: 질문 하나에 36시간  →  지금: 10분마다 질문-답변 세트 생성·검증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371600" y="1828800"/>
            <a:ext cx="9445752" cy="18288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011680"/>
            <a:ext cx="4114800" cy="3200400"/>
          </a:xfrm>
          <a:prstGeom prst="roundRect">
            <a:avLst>
              <a:gd name="adj" fmla="val 5143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88720" y="2148840"/>
            <a:ext cx="914400" cy="274320"/>
          </a:xfrm>
          <a:prstGeom prst="roundRect">
            <a:avLst>
              <a:gd name="adj" fmla="val 33333"/>
            </a:avLst>
          </a:prstGeom>
          <a:solidFill>
            <a:srgbClr val="FDE68A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21488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240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2468880"/>
            <a:ext cx="4114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EAB30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97%</a:t>
            </a:r>
            <a:endParaRPr lang="en-US" sz="6400" dirty="0"/>
          </a:p>
        </p:txBody>
      </p:sp>
      <p:sp>
        <p:nvSpPr>
          <p:cNvPr id="13" name="Text 11"/>
          <p:cNvSpPr/>
          <p:nvPr/>
        </p:nvSpPr>
        <p:spPr>
          <a:xfrm>
            <a:off x="548640" y="40690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1620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정답률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45262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1,000개 테스트 기준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31089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5669280" y="1828800"/>
            <a:ext cx="5943600" cy="3749040"/>
          </a:xfrm>
          <a:prstGeom prst="roundRect">
            <a:avLst>
              <a:gd name="adj" fmla="val 4878"/>
            </a:avLst>
          </a:prstGeom>
          <a:solidFill>
            <a:srgbClr val="2563EB"/>
          </a:solidFill>
          <a:ln/>
          <a:effectLst>
            <a:outerShdw sx="100000" sy="100000" kx="0" ky="0" algn="bl" rotWithShape="0" blurRad="203200" dist="50800" dir="16200000">
              <a:srgbClr val="2563eb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58000" y="1993392"/>
            <a:ext cx="914400" cy="292608"/>
          </a:xfrm>
          <a:prstGeom prst="roundRect">
            <a:avLst>
              <a:gd name="adj" fmla="val 31250"/>
            </a:avLst>
          </a:prstGeom>
          <a:solidFill>
            <a:srgbClr val="FFFFFF">
              <a:alpha val="2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0" y="199339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669280" y="2286000"/>
            <a:ext cx="5943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100%</a:t>
            </a:r>
            <a:endParaRPr lang="en-US" sz="8800" dirty="0"/>
          </a:p>
        </p:txBody>
      </p:sp>
      <p:sp>
        <p:nvSpPr>
          <p:cNvPr id="20" name="Text 18"/>
          <p:cNvSpPr/>
          <p:nvPr/>
        </p:nvSpPr>
        <p:spPr>
          <a:xfrm>
            <a:off x="5669280" y="434340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DD0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완벽한 정답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669280" y="4846320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AA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금융 AI가 나아가야 할 기준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0" y="5989320"/>
            <a:ext cx="1219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금융에서는 </a:t>
            </a:r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99%도 불안합니다.</a:t>
            </a:r>
            <a:pPr algn="ctr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고객은 항상 100%를 기대합니다.</a:t>
            </a:r>
            <a:endParaRPr lang="en-US" sz="1300" dirty="0"/>
          </a:p>
        </p:txBody>
      </p:sp>
    </p:spTree>
  </p:cSld>
  <p:transition spd="med" advClick="1">
    <p:fade thruBlk="0"/>
  </p:transition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4905756" y="155448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E4EAFF"/>
          </a:solidFill>
          <a:ln/>
        </p:spPr>
      </p:sp>
      <p:sp>
        <p:nvSpPr>
          <p:cNvPr id="4" name="Text 2"/>
          <p:cNvSpPr/>
          <p:nvPr/>
        </p:nvSpPr>
        <p:spPr>
          <a:xfrm>
            <a:off x="4905756" y="15544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BEFORE &amp; AFTER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789920" y="6601968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BranchQ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0" y="548640"/>
            <a:ext cx="1219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질문, 완전히 다른 결과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0" y="1115568"/>
            <a:ext cx="1219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6개월 전에는 되묻기만 했던 질문이, 지금은 즉시 구조화된 데이터로 나옵니다.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00200"/>
            <a:ext cx="1051560" cy="274320"/>
          </a:xfrm>
          <a:prstGeom prst="roundRect">
            <a:avLst>
              <a:gd name="adj" fmla="val 20000"/>
            </a:avLst>
          </a:prstGeom>
          <a:solidFill>
            <a:srgbClr val="FEE2E2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60020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F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6개월 전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965960"/>
            <a:ext cx="4389120" cy="4572000"/>
          </a:xfrm>
          <a:prstGeom prst="roundRect">
            <a:avLst>
              <a:gd name="adj" fmla="val 2500"/>
            </a:avLst>
          </a:prstGeom>
          <a:solidFill>
            <a:srgbClr val="FEF5F5"/>
          </a:solidFill>
          <a:ln w="12700">
            <a:solidFill>
              <a:srgbClr val="FDB8B8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274320" y="62179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080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 BranchQ 화면 (6개월 전)</a:t>
            </a:r>
            <a:endParaRPr lang="en-US" sz="900" dirty="0"/>
          </a:p>
        </p:txBody>
      </p:sp>
      <p:pic>
        <p:nvPicPr>
          <p:cNvPr id="12" name="Image 0" descr="C:\Users\김광현\Desktop\클로드작업물\mockup_s9_befor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965960"/>
            <a:ext cx="4389120" cy="45720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709160" y="393192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2800" dirty="0"/>
          </a:p>
        </p:txBody>
      </p:sp>
      <p:sp>
        <p:nvSpPr>
          <p:cNvPr id="14" name="Shape 11"/>
          <p:cNvSpPr/>
          <p:nvPr/>
        </p:nvSpPr>
        <p:spPr>
          <a:xfrm>
            <a:off x="5577840" y="1600200"/>
            <a:ext cx="868680" cy="274320"/>
          </a:xfrm>
          <a:prstGeom prst="roundRect">
            <a:avLst>
              <a:gd name="adj" fmla="val 20000"/>
            </a:avLst>
          </a:prstGeom>
          <a:solidFill>
            <a:srgbClr val="DCFCE7"/>
          </a:solidFill>
          <a:ln/>
        </p:spPr>
      </p:sp>
      <p:sp>
        <p:nvSpPr>
          <p:cNvPr id="15" name="Text 12"/>
          <p:cNvSpPr/>
          <p:nvPr/>
        </p:nvSpPr>
        <p:spPr>
          <a:xfrm>
            <a:off x="5577840" y="160020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A3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486400" y="1920240"/>
            <a:ext cx="6400800" cy="4663440"/>
          </a:xfrm>
          <a:prstGeom prst="roundRect">
            <a:avLst>
              <a:gd name="adj" fmla="val 2353"/>
            </a:avLst>
          </a:prstGeom>
          <a:solidFill>
            <a:srgbClr val="F2FCF5"/>
          </a:solidFill>
          <a:ln w="12700">
            <a:solidFill>
              <a:srgbClr val="86EFAC"/>
            </a:solidFill>
            <a:prstDash val="dash"/>
          </a:ln>
        </p:spPr>
      </p:sp>
      <p:sp>
        <p:nvSpPr>
          <p:cNvPr id="17" name="Text 14"/>
          <p:cNvSpPr/>
          <p:nvPr/>
        </p:nvSpPr>
        <p:spPr>
          <a:xfrm>
            <a:off x="5486400" y="62453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9A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 BranchQ 화면 (현재)</a:t>
            </a:r>
            <a:endParaRPr lang="en-US" sz="900" dirty="0"/>
          </a:p>
        </p:txBody>
      </p:sp>
      <p:pic>
        <p:nvPicPr>
          <p:cNvPr id="18" name="Image 1" descr="C:\Users\김광현\Desktop\클로드작업물\mockup_s9_after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486400" y="1920240"/>
            <a:ext cx="640080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194560"/>
            <a:ext cx="5486400" cy="5486400"/>
          </a:xfrm>
          <a:prstGeom prst="ellipse">
            <a:avLst/>
          </a:prstGeom>
          <a:solidFill>
            <a:srgbClr val="FFFFFF">
              <a:alpha val="6000"/>
            </a:srgbClr>
          </a:solidFill>
          <a:ln w="25400">
            <a:solidFill>
              <a:srgbClr val="4466CC">
                <a:alpha val="2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011680" y="4389120"/>
            <a:ext cx="4572000" cy="4572000"/>
          </a:xfrm>
          <a:prstGeom prst="ellipse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3355BB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818888" y="777240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4818888" y="77724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376672" y="777240"/>
            <a:ext cx="19933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BranchQ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371600" y="1417320"/>
            <a:ext cx="9418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2200" b="1" dirty="0">
                <a:solidFill>
                  <a:srgbClr val="AABBD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1년 안에 그 기업들은
</a:t>
            </a:r>
            <a:r>
              <a:rPr lang="en-US" sz="2200" b="1" dirty="0">
                <a:solidFill>
                  <a:srgbClr val="60A5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브랜치Q에게 오늘 할 일을 먼저 묻고</a:t>
            </a:r>
            <a:endParaRPr lang="en-US" sz="22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2200" b="1" dirty="0">
                <a:solidFill>
                  <a:srgbClr val="AABBD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하루를 시작하게 될 겁니다.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65760" y="3154680"/>
            <a:ext cx="11457432" cy="18288"/>
          </a:xfrm>
          <a:prstGeom prst="rect">
            <a:avLst/>
          </a:prstGeom>
          <a:solidFill>
            <a:srgbClr val="2A3A70"/>
          </a:solidFill>
          <a:ln/>
        </p:spPr>
      </p:sp>
      <p:sp>
        <p:nvSpPr>
          <p:cNvPr id="9" name="Text 7"/>
          <p:cNvSpPr/>
          <p:nvPr/>
        </p:nvSpPr>
        <p:spPr>
          <a:xfrm>
            <a:off x="0" y="3246120"/>
            <a:ext cx="1219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466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 기업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3611880"/>
            <a:ext cx="2578608" cy="960120"/>
          </a:xfrm>
          <a:prstGeom prst="roundRect">
            <a:avLst>
              <a:gd name="adj" fmla="val 9524"/>
            </a:avLst>
          </a:prstGeom>
          <a:solidFill>
            <a:srgbClr val="EEF2FF"/>
          </a:solidFill>
          <a:ln w="12700">
            <a:solidFill>
              <a:srgbClr val="AABCDC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274320" y="3611880"/>
            <a:ext cx="25786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30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로고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076956" y="3611880"/>
            <a:ext cx="2578608" cy="960120"/>
          </a:xfrm>
          <a:prstGeom prst="roundRect">
            <a:avLst>
              <a:gd name="adj" fmla="val 9524"/>
            </a:avLst>
          </a:prstGeom>
          <a:solidFill>
            <a:srgbClr val="F0FDF4"/>
          </a:solidFill>
          <a:ln w="12700">
            <a:solidFill>
              <a:srgbClr val="AABCDC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3076956" y="3611880"/>
            <a:ext cx="25786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665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로고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879592" y="3611880"/>
            <a:ext cx="2578608" cy="960120"/>
          </a:xfrm>
          <a:prstGeom prst="roundRect">
            <a:avLst>
              <a:gd name="adj" fmla="val 9524"/>
            </a:avLst>
          </a:prstGeom>
          <a:solidFill>
            <a:srgbClr val="FFF7ED"/>
          </a:solidFill>
          <a:ln w="12700">
            <a:solidFill>
              <a:srgbClr val="AABCDC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5879592" y="3611880"/>
            <a:ext cx="25786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341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로고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682228" y="3611880"/>
            <a:ext cx="2578608" cy="960120"/>
          </a:xfrm>
          <a:prstGeom prst="roundRect">
            <a:avLst>
              <a:gd name="adj" fmla="val 9524"/>
            </a:avLst>
          </a:prstGeom>
          <a:solidFill>
            <a:srgbClr val="F5F3FF"/>
          </a:solidFill>
          <a:ln w="12700">
            <a:solidFill>
              <a:srgbClr val="AABCDC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8682228" y="3611880"/>
            <a:ext cx="25786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D28D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로고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4681728"/>
            <a:ext cx="2578608" cy="960120"/>
          </a:xfrm>
          <a:prstGeom prst="roundRect">
            <a:avLst>
              <a:gd name="adj" fmla="val 9524"/>
            </a:avLst>
          </a:prstGeom>
          <a:solidFill>
            <a:srgbClr val="ECFEFF"/>
          </a:solidFill>
          <a:ln w="12700">
            <a:solidFill>
              <a:srgbClr val="AABCDC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274320" y="4681728"/>
            <a:ext cx="25786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E74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로고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076956" y="4681728"/>
            <a:ext cx="2578608" cy="960120"/>
          </a:xfrm>
          <a:prstGeom prst="roundRect">
            <a:avLst>
              <a:gd name="adj" fmla="val 9524"/>
            </a:avLst>
          </a:prstGeom>
          <a:solidFill>
            <a:srgbClr val="FEF2F2"/>
          </a:solidFill>
          <a:ln w="12700">
            <a:solidFill>
              <a:srgbClr val="AABCDC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076956" y="4681728"/>
            <a:ext cx="25786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91B1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로고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879592" y="4681728"/>
            <a:ext cx="2578608" cy="960120"/>
          </a:xfrm>
          <a:prstGeom prst="roundRect">
            <a:avLst>
              <a:gd name="adj" fmla="val 9524"/>
            </a:avLst>
          </a:prstGeom>
          <a:solidFill>
            <a:srgbClr val="FFFBEB"/>
          </a:solidFill>
          <a:ln w="12700">
            <a:solidFill>
              <a:srgbClr val="AABCDC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5879592" y="4681728"/>
            <a:ext cx="25786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240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로고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682228" y="4681728"/>
            <a:ext cx="2578608" cy="960120"/>
          </a:xfrm>
          <a:prstGeom prst="roundRect">
            <a:avLst>
              <a:gd name="adj" fmla="val 9524"/>
            </a:avLst>
          </a:prstGeom>
          <a:solidFill>
            <a:srgbClr val="EFF6FF"/>
          </a:solidFill>
          <a:ln w="12700">
            <a:solidFill>
              <a:srgbClr val="AABCDC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8682228" y="4681728"/>
            <a:ext cx="25786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D4E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로고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5751576"/>
            <a:ext cx="2578608" cy="960120"/>
          </a:xfrm>
          <a:prstGeom prst="roundRect">
            <a:avLst>
              <a:gd name="adj" fmla="val 9524"/>
            </a:avLst>
          </a:prstGeom>
          <a:solidFill>
            <a:srgbClr val="F0FDF4"/>
          </a:solidFill>
          <a:ln w="12700">
            <a:solidFill>
              <a:srgbClr val="AABCDC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274320" y="5751576"/>
            <a:ext cx="25786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58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로고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076956" y="5751576"/>
            <a:ext cx="2578608" cy="960120"/>
          </a:xfrm>
          <a:prstGeom prst="roundRect">
            <a:avLst>
              <a:gd name="adj" fmla="val 9524"/>
            </a:avLst>
          </a:prstGeom>
          <a:solidFill>
            <a:srgbClr val="F5F3FF"/>
          </a:solidFill>
          <a:ln w="12700">
            <a:solidFill>
              <a:srgbClr val="AABCDC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3076956" y="5751576"/>
            <a:ext cx="25786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21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로고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879592" y="5751576"/>
            <a:ext cx="2578608" cy="960120"/>
          </a:xfrm>
          <a:prstGeom prst="roundRect">
            <a:avLst>
              <a:gd name="adj" fmla="val 9524"/>
            </a:avLst>
          </a:prstGeom>
          <a:solidFill>
            <a:srgbClr val="FFF7ED"/>
          </a:solidFill>
          <a:ln w="12700">
            <a:solidFill>
              <a:srgbClr val="AABCDC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5879592" y="5751576"/>
            <a:ext cx="25786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241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로고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682228" y="5751576"/>
            <a:ext cx="2578608" cy="960120"/>
          </a:xfrm>
          <a:prstGeom prst="roundRect">
            <a:avLst>
              <a:gd name="adj" fmla="val 9524"/>
            </a:avLst>
          </a:prstGeom>
          <a:solidFill>
            <a:srgbClr val="EEF2FF"/>
          </a:solidFill>
          <a:ln w="12700">
            <a:solidFill>
              <a:srgbClr val="AABCDC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8682228" y="5751576"/>
            <a:ext cx="25786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12E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로고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0" y="6510528"/>
            <a:ext cx="1219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3344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"오늘 뭐부터 확인하면 돼?"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706</Words>
  <Application>Microsoft Office PowerPoint</Application>
  <PresentationFormat>와이드스크린</PresentationFormat>
  <Paragraphs>174</Paragraphs>
  <Slides>13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20" baseType="lpstr">
      <vt:lpstr>Pretendard</vt:lpstr>
      <vt:lpstr>맑은 고딕</vt:lpstr>
      <vt:lpstr>Arial</vt:lpstr>
      <vt:lpstr>Calibri</vt:lpstr>
      <vt:lpstr>Consolas</vt:lpstr>
      <vt:lpstr>Georgia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BranchQ — 질문 하나에 36시간</dc:title>
  <dc:subject>PptxGenJS Presentation</dc:subject>
  <dc:creator>김광현</dc:creator>
  <cp:lastModifiedBy>김광현</cp:lastModifiedBy>
  <cp:revision>3</cp:revision>
  <dcterms:created xsi:type="dcterms:W3CDTF">2026-03-31T05:09:24Z</dcterms:created>
  <dcterms:modified xsi:type="dcterms:W3CDTF">2026-03-31T05:13:06Z</dcterms:modified>
</cp:coreProperties>
</file>
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98464" y="1463040"/>
            <a:ext cx="18288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737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219456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하나에 </a:t>
            </a:r>
            <a:pPr algn="ctr" indent="0" marL="0">
              <a:buNone/>
            </a:pPr>
            <a:r>
              <a:rPr lang="en-US" sz="5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36시간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0" y="34290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AA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AI가 정확한 답을 하기까지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4069080"/>
            <a:ext cx="3044952" cy="18288"/>
          </a:xfrm>
          <a:prstGeom prst="rect">
            <a:avLst/>
          </a:prstGeom>
          <a:solidFill>
            <a:srgbClr val="2A3A70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4206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김광현  |  브랜치Q 담당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0" y="1005840"/>
            <a:ext cx="9418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전,</a:t>
            </a:r>
            <a:endParaRPr lang="en-US" sz="3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붙잡고 있었던 질문 하나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0" y="2560320"/>
            <a:ext cx="2130552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83464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제가 약 6개월 전, 브랜치Q를 학습시키면서</a:t>
            </a:r>
            <a:endParaRPr lang="en-US" sz="15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오래 붙잡고 있었던 질문 하나를 말씀드리려고 합니다.</a:t>
            </a:r>
            <a:endParaRPr lang="en-US" sz="1500" dirty="0"/>
          </a:p>
          <a:p>
            <a:pPr algn="ctr" indent="0" marL="0">
              <a:lnSpc>
                <a:spcPct val="170000"/>
              </a:lnSpc>
              <a:buNone/>
            </a:pPr>
            <a:endParaRPr lang="en-US" sz="15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말씀드리는 건 현재의 이야기가 아니라,</a:t>
            </a:r>
            <a:endParaRPr lang="en-US" sz="15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제가 실제로 가장 많이 막혔던 순간의 이야기입니다.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9966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"최근 30일 동안</a:t>
            </a:r>
            <a:endParaRPr lang="en-US" sz="4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거래가 없던 계좌 찾아줘"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560320" y="3794760"/>
            <a:ext cx="7040880" cy="1600200"/>
          </a:xfrm>
          <a:prstGeom prst="roundRect">
            <a:avLst>
              <a:gd name="adj" fmla="val 8571"/>
            </a:avLst>
          </a:prstGeom>
          <a:solidFill>
            <a:srgbClr val="F8F9FF"/>
          </a:solidFill>
          <a:ln w="12700">
            <a:solidFill>
              <a:srgbClr val="E0E8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39319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봤을 때는 누구나 이렇게 생각합니다.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43891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정도 질문은 AI가 당연히 잘하겠지."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RESPONSE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48640"/>
            <a:ext cx="6583680" cy="5852160"/>
          </a:xfrm>
          <a:prstGeom prst="roundRect">
            <a:avLst>
              <a:gd name="adj" fmla="val 1875"/>
            </a:avLst>
          </a:prstGeom>
          <a:solidFill>
            <a:srgbClr val="F2F4F8"/>
          </a:solidFill>
          <a:ln w="12700">
            <a:solidFill>
              <a:srgbClr val="C5CD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" y="59893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ChatGPT 화면 캡처</a:t>
            </a:r>
            <a:endParaRPr lang="en-US" sz="900" dirty="0"/>
          </a:p>
        </p:txBody>
      </p:sp>
      <p:pic>
        <p:nvPicPr>
          <p:cNvPr id="8" name="Image 0" descr="C:\Users\김광현\Desktop\클로드작업물\mockup_s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48640"/>
            <a:ext cx="6583680" cy="5852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548640"/>
            <a:ext cx="4663440" cy="3063240"/>
          </a:xfrm>
          <a:prstGeom prst="roundRect">
            <a:avLst>
              <a:gd name="adj" fmla="val 4179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16200000">
              <a:srgbClr val="EF4444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24928" y="713232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7424928" y="713232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정답이 아닙니다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24928" y="11430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원하는 건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"방법 설명"이 아닙니다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24928" y="214884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당장 </a:t>
            </a:r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계좌가 몇 개인지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판단할 수 있는 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구조화된 숫자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필요합니다.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223760" y="3749040"/>
            <a:ext cx="466344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06640" y="38862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VS 현실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06640" y="42976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4361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답변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06640" y="4663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쿼리를 활용하거나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필터를 사용하면...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2688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875520" y="42976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0" y="4361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답변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875520" y="4663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없는 계좌 12개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계좌번호 목록 즉시 출력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914400"/>
            <a:ext cx="1219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원하는 건
</a:t>
            </a:r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설명이 아니라, 바로 판단할 수 있는 데이터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828800" y="2926080"/>
            <a:ext cx="2651760" cy="2468880"/>
          </a:xfrm>
          <a:prstGeom prst="roundRect">
            <a:avLst>
              <a:gd name="adj" fmla="val 6667"/>
            </a:avLst>
          </a:prstGeom>
          <a:solidFill>
            <a:srgbClr val="F8F9FF"/>
          </a:solidFill>
          <a:ln w="12700">
            <a:solidFill>
              <a:srgbClr val="DDE4FF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88920" y="292608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090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2880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계좌가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2926080"/>
            <a:ext cx="2651760" cy="2468880"/>
          </a:xfrm>
          <a:prstGeom prst="roundRect">
            <a:avLst>
              <a:gd name="adj" fmla="val 6667"/>
            </a:avLst>
          </a:prstGeom>
          <a:solidFill>
            <a:srgbClr val="F8F9FF"/>
          </a:solidFill>
          <a:ln w="12700">
            <a:solidFill>
              <a:srgbClr val="DDE4FF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292608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3090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계좌가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멈춰 있는지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0" y="2926080"/>
            <a:ext cx="2651760" cy="2468880"/>
          </a:xfrm>
          <a:prstGeom prst="roundRect">
            <a:avLst>
              <a:gd name="adj" fmla="val 6667"/>
            </a:avLst>
          </a:prstGeom>
          <a:solidFill>
            <a:srgbClr val="F8F9FF"/>
          </a:solidFill>
          <a:ln w="12700">
            <a:solidFill>
              <a:srgbClr val="DDE4FF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23960" y="292608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3090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86384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판단할 수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형태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804672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길게 쓰면 해결될까?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0116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설명을 붙이고, 예시를 넣고,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더 자세히 적으면 될 줄 알았습니다.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788920"/>
            <a:ext cx="4846320" cy="2286000"/>
          </a:xfrm>
          <a:prstGeom prst="roundRect">
            <a:avLst>
              <a:gd name="adj" fmla="val 4800"/>
            </a:avLst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61872" y="2944368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1435608" y="2944368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9344" y="2944368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1"/>
          <p:cNvSpPr/>
          <p:nvPr/>
        </p:nvSpPr>
        <p:spPr>
          <a:xfrm>
            <a:off x="1783080" y="28895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prompt.txt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3182112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최근 30일 동안 거래가 없는 계좌를 찾아줘.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여기서 30일은 오늘 기준 정확히 30일 전(캘린더 기준)이고,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거래는 입금·출금·자동이체 모두 포함해.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단, 내부 이체는 제외하고 외부 거래만 봐줘.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수시 입출금 계좌만 해당하고, 법인·개인 명의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계좌 모두 포함해서 회사명 / 계좌번호 /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마지막 거래일 순으로 정리해줘.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6276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모델 버전이 바뀌면 답이 흔들렸고,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영역이 확장되면 결과가 달라졌습니다.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971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질문, 다른 답변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333756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3392424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 12일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93408" y="36210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계좌는 총 12개입니다.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425196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3408" y="4306824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 13일 (모델 업데이트 후)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93408" y="45354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내역이 없는 계좌는 확인되지 않습니다.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645920" y="5257800"/>
            <a:ext cx="8869680" cy="1051560"/>
          </a:xfrm>
          <a:prstGeom prst="roundRect">
            <a:avLst>
              <a:gd name="adj" fmla="val 12174"/>
            </a:avLst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1645920" y="5257800"/>
            <a:ext cx="8869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질문 하나를 붙잡고 거의 </a:t>
            </a:r>
            <a:pPr algn="ctr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36시간</a:t>
            </a:r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씨름한 뒤에야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동시에 맞아야 한다는 걸 알게 됐습니다.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5760720" cy="5760720"/>
          </a:xfrm>
          <a:prstGeom prst="ellipse">
            <a:avLst/>
          </a:prstGeom>
          <a:solidFill>
            <a:srgbClr val="1A3A7E">
              <a:alpha val="10000"/>
            </a:srgbClr>
          </a:solidFill>
          <a:ln w="12700">
            <a:solidFill>
              <a:srgbClr val="2563EB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554480"/>
            <a:ext cx="1219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pPr algn="ctr" indent="0" marL="0">
              <a:buNone/>
            </a:pPr>
            <a:r>
              <a:rPr lang="en-US" sz="4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en-US" sz="12400" dirty="0"/>
          </a:p>
        </p:txBody>
      </p:sp>
      <p:sp>
        <p:nvSpPr>
          <p:cNvPr id="4" name="Text 2"/>
          <p:cNvSpPr/>
          <p:nvPr/>
        </p:nvSpPr>
        <p:spPr>
          <a:xfrm>
            <a:off x="0" y="374904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질문 하나를 해결하기 위해 붙잡고 있었던 시간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05756" y="18288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05756" y="182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PRINCIPLES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0" y="64008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동시에 맞아야 한다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566160" cy="5074920"/>
          </a:xfrm>
          <a:prstGeom prst="roundRect">
            <a:avLst>
              <a:gd name="adj" fmla="val 4103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508760"/>
            <a:ext cx="3163824" cy="4572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설정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" y="24231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1A2E6E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423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285292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"최근 30일" — 기준이 필요하다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4088" y="3822192"/>
            <a:ext cx="3163824" cy="18288"/>
          </a:xfrm>
          <a:prstGeom prst="rect">
            <a:avLst/>
          </a:prstGeom>
          <a:solidFill>
            <a:srgbClr val="1E2D60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913632"/>
            <a:ext cx="31638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오늘? 영업일? 정산일?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틀린 게 아니라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기준을 정의하지 않았던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" y="5303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업무 규칙이 반영된 언어(DSL)로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변환하는 구조를 만들었다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1508760"/>
            <a:ext cx="3566160" cy="5074920"/>
          </a:xfrm>
          <a:prstGeom prst="roundRect">
            <a:avLst>
              <a:gd name="adj" fmla="val 4103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44568" y="1508760"/>
            <a:ext cx="3163824" cy="4572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4544568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4456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 파악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44568" y="24231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1A2E6E"/>
          </a:solidFill>
          <a:ln/>
        </p:spPr>
      </p:sp>
      <p:sp>
        <p:nvSpPr>
          <p:cNvPr id="22" name="Text 20"/>
          <p:cNvSpPr/>
          <p:nvPr/>
        </p:nvSpPr>
        <p:spPr>
          <a:xfrm>
            <a:off x="4544568" y="2423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44568" y="285292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"거래"가 뭔지 AI는 모른다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44568" y="3822192"/>
            <a:ext cx="3163824" cy="18288"/>
          </a:xfrm>
          <a:prstGeom prst="rect">
            <a:avLst/>
          </a:prstGeom>
          <a:solidFill>
            <a:srgbClr val="1E2D60"/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3913632"/>
            <a:ext cx="31638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입금만? 출금도? 자동이체까지?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정하지 않으면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겉으로 맞아 보이는데 실제로 틀린 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44568" y="5303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가장 오래 막혔던 부분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83880" y="1508760"/>
            <a:ext cx="3566160" cy="5074920"/>
          </a:xfrm>
          <a:prstGeom prst="roundRect">
            <a:avLst>
              <a:gd name="adj" fmla="val 4103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85048" y="1508760"/>
            <a:ext cx="3163824" cy="4572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29" name="Text 27"/>
          <p:cNvSpPr/>
          <p:nvPr/>
        </p:nvSpPr>
        <p:spPr>
          <a:xfrm>
            <a:off x="8385048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8504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표현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85048" y="24231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1A2E6E"/>
          </a:solidFill>
          <a:ln/>
        </p:spPr>
      </p:sp>
      <p:sp>
        <p:nvSpPr>
          <p:cNvPr id="32" name="Text 30"/>
          <p:cNvSpPr/>
          <p:nvPr/>
        </p:nvSpPr>
        <p:spPr>
          <a:xfrm>
            <a:off x="8385048" y="2423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Format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85048" y="285292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맞게 가져와도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문장으로 길게 나오면 쓸 수 없다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385048" y="3822192"/>
            <a:ext cx="3163824" cy="18288"/>
          </a:xfrm>
          <a:prstGeom prst="rect">
            <a:avLst/>
          </a:prstGeom>
          <a:solidFill>
            <a:srgbClr val="1E2D60"/>
          </a:solidFill>
          <a:ln/>
        </p:spPr>
      </p:sp>
      <p:sp>
        <p:nvSpPr>
          <p:cNvPr id="35" name="Text 33"/>
          <p:cNvSpPr/>
          <p:nvPr/>
        </p:nvSpPr>
        <p:spPr>
          <a:xfrm>
            <a:off x="8385048" y="3913632"/>
            <a:ext cx="31638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"계좌는 총 12개이며..."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고객은 바로 판단할 수 없다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85048" y="5303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숫자는 숫자답게,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계좌는 계좌답게, 구조화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233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9418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이해하는 것과
사용자가 바로 판단할 수 있도록
결과를 완성하는 건
</a:t>
            </a:r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완전히 다른 문제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0" y="56692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466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36시간의 경험에서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713232"/>
            <a:ext cx="1219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 질문으로 시작했습니다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508760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BFDBF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50876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[trsc]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81965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수시입출 거래내역 보여줘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1417320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508760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BFDBF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50876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[trsc]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0" y="181965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은행별 총입금액 알려줘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404872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496312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BBF7D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496312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[bal]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" y="28072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수시입출계좌 잔액 보여줘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2404872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2496312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BBF7D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2496312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[bal]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0" y="28072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말 전체 가용자금 얼마야?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3392424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3483864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FED7AA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3483864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[card]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" y="3794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법인카드 사용금액 알려줘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08960" y="3392424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3483864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FDE68A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0" y="3483864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[card_info]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00400" y="3794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법인카드 한도 및 잔여한도 보여줘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" y="4379976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4471416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DDD6FE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" y="4471416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[acct_info]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7472" y="47823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계좌 목록 보여줘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8960" y="4379976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4471416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FECACA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0" y="4471416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[tax_inv]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00400" y="47823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이번달 매입 세금계산서 목록 보여줘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" y="5367528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" y="5458968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A5F3FC"/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" y="5458968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[exchange]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576986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달러 환율 알려줘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108960" y="5367528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5458968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C7D2FE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0" y="5458968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[stock]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00400" y="576986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보유 증권 현황 보여줘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89320" y="2606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3000" dirty="0"/>
          </a:p>
        </p:txBody>
      </p:sp>
      <p:sp>
        <p:nvSpPr>
          <p:cNvPr id="48" name="Shape 46"/>
          <p:cNvSpPr/>
          <p:nvPr/>
        </p:nvSpPr>
        <p:spPr>
          <a:xfrm>
            <a:off x="6812280" y="1417320"/>
            <a:ext cx="5074920" cy="3840480"/>
          </a:xfrm>
          <a:prstGeom prst="roundRect">
            <a:avLst>
              <a:gd name="adj" fmla="val 4762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77800" dist="50800" dir="16200000">
              <a:srgbClr val="2563eb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812280" y="1737360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</a:t>
            </a:r>
            <a:endParaRPr lang="en-US" sz="7200" dirty="0"/>
          </a:p>
        </p:txBody>
      </p:sp>
      <p:sp>
        <p:nvSpPr>
          <p:cNvPr id="50" name="Text 48"/>
          <p:cNvSpPr/>
          <p:nvPr/>
        </p:nvSpPr>
        <p:spPr>
          <a:xfrm>
            <a:off x="6812280" y="3611880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DD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질문 세트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812280" y="4133088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분석 → 업무별 분류 → 반복 추가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12280" y="4572000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88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10개에서 출발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713232"/>
            <a:ext cx="1219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1,000개 질문으로 검증한 결과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0" y="1325880"/>
            <a:ext cx="1219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예전: 질문 하나에 36시간  →  지금: 10분마다 질문-답변 세트 생성·검증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1828800"/>
            <a:ext cx="9445752" cy="1828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2011680"/>
            <a:ext cx="8869680" cy="3063240"/>
          </a:xfrm>
          <a:prstGeom prst="roundRect">
            <a:avLst>
              <a:gd name="adj" fmla="val 5970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sx="100000" sy="100000" kx="0" ky="0" algn="bl" rotWithShape="0" blurRad="127000" dist="38100" dir="16200000">
              <a:srgbClr val="EAB30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2103120"/>
            <a:ext cx="8869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AB3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97%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1645920" y="406908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정답률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5257800"/>
            <a:ext cx="2679192" cy="347472"/>
          </a:xfrm>
          <a:prstGeom prst="roundRect">
            <a:avLst>
              <a:gd name="adj" fmla="val 39474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5257800"/>
            <a:ext cx="2679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→  100%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5989320"/>
            <a:ext cx="1219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금융에서는 </a:t>
            </a:r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99%도 불안합니다.</a:t>
            </a:r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고객은 항상 100%를 기대합니다.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&amp; AFTER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54864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질문, 완전히 다른 결과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0" y="1115568"/>
            <a:ext cx="1219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전에는 되묻기만 했던 질문이, 지금은 즉시 구조화된 데이터로 나옵니다.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4389120" cy="4572000"/>
          </a:xfrm>
          <a:prstGeom prst="roundRect">
            <a:avLst>
              <a:gd name="adj" fmla="val 2500"/>
            </a:avLst>
          </a:prstGeom>
          <a:solidFill>
            <a:srgbClr val="FEF5F5"/>
          </a:solidFill>
          <a:ln w="12700">
            <a:solidFill>
              <a:srgbClr val="FDB8B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74320" y="6217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8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BranchQ 화면 (6개월 전)</a:t>
            </a:r>
            <a:endParaRPr lang="en-US" sz="900" dirty="0"/>
          </a:p>
        </p:txBody>
      </p:sp>
      <p:pic>
        <p:nvPicPr>
          <p:cNvPr id="12" name="Image 0" descr="C:\Users\김광현\Desktop\클로드작업물\mockup_s9_bef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965960"/>
            <a:ext cx="4389120" cy="4572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09160" y="3931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577840" y="1600200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1600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86400" y="1920240"/>
            <a:ext cx="6400800" cy="4663440"/>
          </a:xfrm>
          <a:prstGeom prst="roundRect">
            <a:avLst>
              <a:gd name="adj" fmla="val 2353"/>
            </a:avLst>
          </a:prstGeom>
          <a:solidFill>
            <a:srgbClr val="F2FCF5"/>
          </a:solidFill>
          <a:ln w="12700">
            <a:solidFill>
              <a:srgbClr val="86EFAC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5486400" y="62453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A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BranchQ 화면 (현재)</a:t>
            </a:r>
            <a:endParaRPr lang="en-US" sz="900" dirty="0"/>
          </a:p>
        </p:txBody>
      </p:sp>
      <p:pic>
        <p:nvPicPr>
          <p:cNvPr id="18" name="Image 1" descr="C:\Users\김광현\Desktop\클로드작업물\mockup_s9_aft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1920240"/>
            <a:ext cx="64008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18888" y="7772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818888" y="777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376672" y="77724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9418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AA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안에 그 기업들은
</a:t>
            </a:r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브랜치Q에게 오늘 할 일을 먼저 묻고</a:t>
            </a:r>
            <a:pPr algn="ctr" indent="0" marL="0">
              <a:lnSpc>
                <a:spcPct val="140000"/>
              </a:lnSpc>
              <a:buNone/>
            </a:pP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AA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하루를 시작하게 될 겁니다.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11457432" cy="18288"/>
          </a:xfrm>
          <a:prstGeom prst="rect">
            <a:avLst/>
          </a:prstGeom>
          <a:solidFill>
            <a:srgbClr val="2A3A70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3246120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66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기업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3611880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EF2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74320" y="3611880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76956" y="3611880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076956" y="3611880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79592" y="3611880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879592" y="3611880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2228" y="3611880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5F3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682228" y="3611880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681728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CFE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74320" y="4681728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76956" y="4681728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076956" y="4681728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79592" y="4681728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FFBEB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879592" y="4681728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2228" y="4681728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682228" y="4681728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5751576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274320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76956" y="5751576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5F3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076956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79592" y="5751576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879592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82228" y="5751576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EF2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682228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2E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0" y="6510528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4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뭐부터 확인하면 돼?"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BranchQ — 질문 하나에 36시간</dc:title>
  <dc:subject>PptxGenJS Presentation</dc:subject>
  <dc:creator>김광현</dc:creator>
  <cp:lastModifiedBy>김광현</cp:lastModifiedBy>
  <cp:revision>1</cp:revision>
  <dcterms:created xsi:type="dcterms:W3CDTF">2026-03-31T05:09:24Z</dcterms:created>
  <dcterms:modified xsi:type="dcterms:W3CDTF">2026-03-31T05:09:24Z</dcterms:modified>
</cp:coreProperties>
</file>